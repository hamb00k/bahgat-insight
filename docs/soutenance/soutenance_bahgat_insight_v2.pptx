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0B0B"/>
                </a:solidFill>
                <a:latin typeface="Segoe UI"/>
              </a:rPr>
              <a:t>Erreur de prévision (MAPE, holdout 60 j)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MAPE (%)</c:v>
                </c:pt>
              </c:strCache>
            </c:strRef>
          </c:tx>
          <c:dPt>
            <c:idx val="0"/>
            <c:spPr>
              <a:solidFill>
                <a:srgbClr val="1C5CAB"/>
              </a:solidFill>
            </c:spPr>
          </c:dPt>
          <c:dPt>
            <c:idx val="1"/>
            <c:spPr>
              <a:solidFill>
                <a:srgbClr val="EDA100"/>
              </a:solidFill>
            </c:spPr>
          </c:dPt>
          <c:cat>
            <c:strRef>
              <c:f>Sheet1!$A$2:$A$3</c:f>
              <c:strCache>
                <c:ptCount val="2"/>
                <c:pt idx="0">
                  <c:v>Holt-Winters</c:v>
                </c:pt>
                <c:pt idx="1">
                  <c:v>Gradient Boosting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8.55</c:v>
                </c:pt>
                <c:pt idx="1">
                  <c:v>10.37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>
                <a:solidFill>
                  <a:srgbClr val="0B0B0B"/>
                </a:solidFill>
                <a:latin typeface="Segoe UI"/>
              </a:rPr>
              <a:t>Part du chiffre d'affaires par segment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 du CA (%)</c:v>
                </c:pt>
              </c:strCache>
            </c:strRef>
          </c:tx>
          <c:dPt>
            <c:idx val="0"/>
            <c:spPr>
              <a:solidFill>
                <a:srgbClr val="2A78D6"/>
              </a:solidFill>
            </c:spPr>
          </c:dPt>
          <c:dPt>
            <c:idx val="1"/>
            <c:spPr>
              <a:solidFill>
                <a:srgbClr val="1BAF7A"/>
              </a:solidFill>
            </c:spPr>
          </c:dPt>
          <c:dPt>
            <c:idx val="2"/>
            <c:spPr>
              <a:solidFill>
                <a:srgbClr val="EDA100"/>
              </a:solidFill>
            </c:spPr>
          </c:dPt>
          <c:dPt>
            <c:idx val="3"/>
            <c:spPr>
              <a:solidFill>
                <a:srgbClr val="4A3AA7"/>
              </a:solidFill>
            </c:spPr>
          </c:dPt>
          <c:dPt>
            <c:idx val="4"/>
            <c:spPr>
              <a:solidFill>
                <a:srgbClr val="898781"/>
              </a:solidFill>
            </c:spPr>
          </c:dPt>
          <c:cat>
            <c:strRef>
              <c:f>Sheet1!$A$2:$A$6</c:f>
              <c:strCache>
                <c:ptCount val="5"/>
                <c:pt idx="0">
                  <c:v>Champions</c:v>
                </c:pt>
                <c:pt idx="1">
                  <c:v>Loyal Customers</c:v>
                </c:pt>
                <c:pt idx="2">
                  <c:v>Slipping Away</c:v>
                </c:pt>
                <c:pt idx="3">
                  <c:v>Promising Mid-Tier</c:v>
                </c:pt>
                <c:pt idx="4">
                  <c:v>Hibernating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45.5</c:v>
                </c:pt>
                <c:pt idx="1">
                  <c:v>34.1</c:v>
                </c:pt>
                <c:pt idx="2">
                  <c:v>12.9</c:v>
                </c:pt>
                <c:pt idx="3">
                  <c:v>6.3</c:v>
                </c:pt>
                <c:pt idx="4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 à tous. Je vais vous présenter mon projet de fin d'études, réalisé en six mois pour le cabinet Bahgat IT Expert (Dubaï), entièrement à distance depuis le Maroc : la conception et le développement complet d'une plateforme de Business Intelligence pilotée par l'IA, de la donnée brute jusqu'aux tableaux de bord.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plan suit la chaîne de valeur de la donnée : le contexte, la démarche, puis la réalisation technique en trois temps (données, ML, restitution), une démonstration en direct, et le bilan.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Bahgat IT Expert est un cabinet original : à la croisée de l'expertise technique et judiciaire. Mon stage s'est déroulé dans la practice Data &amp; BI, dont l'ambition est d'industrialiser son offre — c'est exactement l'objet de mon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douleurs reviennent chez tous les clients de la practice : silos, reporting manuel, absence de prévision, détection tardive des incidents. Ma mission répond à ces quatre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clé de la soutenance : la confidentialité n'a pas été subie mais transformée en atout méthodologique. Générer les données me donne la vérité terrain, donc la capacité d'évaluer objectivement l'ETL et le ML — impossible avec des données réelles non annotées. La plateforme reste 100 % agnostique de la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projet a été conduit en cinq phases avec des jalons de démonstration. Les phases ML et restitution se chevauchent volontairement : les premières pages de dashboards ont servi à valider les sorties des modèles.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décisionnelle classique en couches, orchestrée par une commande unique. Chaque brique est remplaçable indépendamment — c'est ce qui rend la migration vers la production incrémentale : SQLite vers PostgreSQL est un changement de connexion.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générateur superpose plusieurs couches de signal calibrées sur le retail du Golfe. Et surtout : on y injecte des incidents et des défauts CONNUS. C'est la base de toute l'évaluation qui suit. Chiffres à actualiser après la dernière exécution du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L'ETL applique une action adaptée à chaque défaut : suppression, normalisation, réparation par référentiel, ou quarantaine. Rien n'est silencieux : chaque correction est comptée et affichée dans l'application — argument d'auditabilité fort en contexte de conseil. Chiffres à actualiser après la dernière exécution.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Démarche champion/challenger : plutôt que de choisir un modèle par idéologie, les deux sont évalués sur un holdout de 60 jours. Le statistique gagne — et c'est explicable : série à forte saisonnalité hebdomadaire stable. Si le jury demande pourquoi pas du deep learning : 1100 points, saisonnalité simple, interprétabilité et coût — le backtest tranche.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détecteurs complémentaires : le multivarié attrape les incidents systémiques, le z-score par magasin les incidents localisés. La validation contre la vérité terrain donne un rappel objectif. Racontez la leçon d'ingénierie : c'est votre meilleure réponse à « quelle a été la difficulté principale ? ». Vérifier le 7/7 sur la page Anomalies après la dernière exécution.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segmentation n'est pas une fin en soi : le croisement segment × churn × CLV produit une liste de surveillance directement exploitable. Chiffres du donut à actualiser après la dernière exécution du pipeline (page Customers).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canaux volontairement : l'app web pour la démo interactive et le sur-mesure, Power BI parce que c'est l'outil standard des clients du cabinet. Les deux consomment le même entrepôt — un seul modèle sémantique, deux restitutions. Insérer les captures.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Basculer sur l'application. Séquence rodée : 1) relancer un étage du pipeline pour montrer le journal de qualité en direct ; 2) l'Overview avec les KPI et le mode sombre ; 3) la prévision et surtout le panneau de validation 7/7 des anomalies ; 4) finir sur Power BI avec un slicer. Garder un enregistrement d'écran en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résultat est mesuré, pas déclaré : c'est la conséquence directe de la stratégie de vérité terrain. Côté compétences, insister sur la double dimension technique et conseil.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Assumer les limites avant que le jury ne les trouve : c'est un démonstrateur, et chaque limite a sa réponse documentée dans la feuille de route remise au cabinet.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 probables : pourquoi des données synthétiques (réponse : confidentialité + vérité terrain mesurable) ; pourquoi Holt-Winters (backtest, saisonnalité stable) ; scalabilité (architecture en couches, migration incrémentale) ; faux positifs (contamination bornée, garde-fous, sévérités). Les réponses détaillées sont dans docs/presentation_guide.md.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6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200" b="1">
                <a:solidFill>
                  <a:srgbClr val="CDE2FB"/>
                </a:solidFill>
                <a:latin typeface="Segoe UI"/>
              </a:rPr>
              <a:t>SOUTENANCE DE STAGE DE FIN D'ÉTUDES — INSA HAUTS-DE-FRANCE · 5A ICY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Une plateforme de Business Intelligence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000" b="1">
                <a:solidFill>
                  <a:srgbClr val="CDE2FB"/>
                </a:solidFill>
                <a:latin typeface="Segoe UI"/>
              </a:rPr>
              <a:t>pilotée par l'intelligence artificielle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DE2FB"/>
                </a:solidFill>
                <a:latin typeface="Segoe UI"/>
              </a:rPr>
              <a:t>Conception et développement de bout en bout — Bahgat IT Expert, Dubaï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709160"/>
            <a:ext cx="10332720" cy="1234440"/>
          </a:xfrm>
          <a:prstGeom prst="roundRect">
            <a:avLst>
              <a:gd name="adj" fmla="val 5500"/>
            </a:avLst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BEN SAID Nassim  ·  1er avril – 30 septembre 2026  ·  stage à distance (Maroc)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DE2FB"/>
                </a:solidFill>
                <a:latin typeface="Segoe UI"/>
              </a:rPr>
              <a:t>Tuteur école : [Nom]  ·  Tuteur entreprise : [Nom]  —  Bahgat IT Expert, Consulting &amp; Arbitration, Dubaï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PLAN DE LA PRÉSENTATION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Sommaire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3566160" cy="19202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2057400"/>
            <a:ext cx="475488" cy="47548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Contexte &amp; entreprise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Bahgat IT Expert et la practice Data / BI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4255" y="1828800"/>
            <a:ext cx="3566160" cy="19202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62855" y="2057400"/>
            <a:ext cx="475488" cy="47548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2855" y="26974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Objectifs &amp; démarche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cahier des charges, confidentialité, planning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1" y="1828800"/>
            <a:ext cx="3566160" cy="19202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48471" y="2057400"/>
            <a:ext cx="475488" cy="47548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1" y="26974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Architecture &amp; données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pipeline, entrepôt, jeu de données synthétique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3566160" cy="19202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4206240"/>
            <a:ext cx="475488" cy="47548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Machine learning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prévision, anomalies, segmentation — évalués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5" y="3977639"/>
            <a:ext cx="3566160" cy="19202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5" y="4206240"/>
            <a:ext cx="475488" cy="47548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48463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Restitution &amp; démo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application web Flask et rapport Power BI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1" y="3977639"/>
            <a:ext cx="3566160" cy="19202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48471" y="4206240"/>
            <a:ext cx="475488" cy="47548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48463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Bilan &amp; perspectives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résultats, enseignements, feuille de 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1 · CONTEXTE &amp; ENTREPRISE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Bahgat IT Expert — conseil &amp; arbitrage IT, Dubaï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6492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3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50" b="1">
                <a:solidFill>
                  <a:srgbClr val="0B0B0B"/>
                </a:solidFill>
                <a:latin typeface="Segoe UI"/>
              </a:rPr>
              <a:t>Cabinet pluridisciplinaire — </a:t>
            </a:r>
            <a:r>
              <a:rPr sz="1350">
                <a:solidFill>
                  <a:srgbClr val="52514E"/>
                </a:solidFill>
                <a:latin typeface="Segoe UI"/>
              </a:rPr>
              <a:t>investigation numérique, cybersécurité, infrastructure, arbitrage et expertise judiciaire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50" b="1">
                <a:solidFill>
                  <a:srgbClr val="0B0B0B"/>
                </a:solidFill>
                <a:latin typeface="Segoe UI"/>
              </a:rPr>
              <a:t>Certifié — </a:t>
            </a:r>
            <a:r>
              <a:rPr sz="1350">
                <a:solidFill>
                  <a:srgbClr val="52514E"/>
                </a:solidFill>
                <a:latin typeface="Segoe UI"/>
              </a:rPr>
              <a:t>Ministère de la Justice des Émirats et cours fédérales — plus de 30 ans d'expérience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50" b="1">
                <a:solidFill>
                  <a:srgbClr val="0B0B0B"/>
                </a:solidFill>
                <a:latin typeface="Segoe UI"/>
              </a:rPr>
              <a:t>Practice Data &amp; Business Intelligence — </a:t>
            </a:r>
            <a:r>
              <a:rPr sz="1350">
                <a:solidFill>
                  <a:srgbClr val="52514E"/>
                </a:solidFill>
                <a:latin typeface="Segoe UI"/>
              </a:rPr>
              <a:t>tableaux de bord décisionnels et accompagnement IA pour les clients du cabinet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50" b="1">
                <a:solidFill>
                  <a:srgbClr val="0B0B0B"/>
                </a:solidFill>
                <a:latin typeface="Segoe UI"/>
              </a:rPr>
              <a:t>Mon positionnement — </a:t>
            </a:r>
            <a:r>
              <a:rPr sz="1350">
                <a:solidFill>
                  <a:srgbClr val="52514E"/>
                </a:solidFill>
                <a:latin typeface="Segoe UI"/>
              </a:rPr>
              <a:t>stagiaire ingénieur de la practice Data &amp; BI, en télétravail intégral depuis le Maroc (décalage horaire ~3 h)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50" b="1">
                <a:solidFill>
                  <a:srgbClr val="0B0B0B"/>
                </a:solidFill>
                <a:latin typeface="Segoe UI"/>
              </a:rPr>
              <a:t>Ambition du cabinet — </a:t>
            </a:r>
            <a:r>
              <a:rPr sz="1350">
                <a:solidFill>
                  <a:srgbClr val="52514E"/>
                </a:solidFill>
                <a:latin typeface="Segoe UI"/>
              </a:rPr>
              <a:t>industrialiser l'offre BI : une plateforme de référence réutilisable, plutôt que des tableaux de bord ad hoc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783080"/>
            <a:ext cx="2331720" cy="12344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79792" y="1911095"/>
            <a:ext cx="2002536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78D6"/>
                </a:solidFill>
                <a:latin typeface="Segoe UI"/>
              </a:rPr>
              <a:t>30+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années d'expérience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29800" y="1783080"/>
            <a:ext cx="2331720" cy="12344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4392" y="1911095"/>
            <a:ext cx="2002536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78D6"/>
                </a:solidFill>
                <a:latin typeface="Segoe UI"/>
              </a:rPr>
              <a:t>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pays d'implantation
(EAU, KSA, Bahreïn, Canada)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200400"/>
            <a:ext cx="2331720" cy="12344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9792" y="3328416"/>
            <a:ext cx="2002536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78D6"/>
                </a:solidFill>
                <a:latin typeface="Segoe UI"/>
              </a:rPr>
              <a:t>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pôles d'expertise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3200400"/>
            <a:ext cx="2331720" cy="12344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94392" y="3328416"/>
            <a:ext cx="2002536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A78D6"/>
                </a:solidFill>
                <a:latin typeface="Segoe UI"/>
              </a:rPr>
              <a:t>8+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secteurs clients
(retail, finance, oil &amp; gas…)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617720"/>
            <a:ext cx="4846320" cy="1371600"/>
          </a:xfrm>
          <a:prstGeom prst="roundRect">
            <a:avLst>
              <a:gd name="adj" fmla="val 5500"/>
            </a:avLst>
          </a:prstGeom>
          <a:solidFill>
            <a:srgbClr val="F0EFEC"/>
          </a:solidFill>
          <a:ln w="12700">
            <a:solidFill>
              <a:srgbClr val="89878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2514E"/>
                </a:solidFill>
                <a:latin typeface="Segoe UI"/>
              </a:rPr>
              <a:t>CAPTURE À INSÉRER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Segoe UI"/>
              </a:rPr>
              <a:t>logo Bahgat IT Expert ou visuel du cabinet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1 · CONTEXTE &amp; ENTREPRISE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La problématique récurrente des clients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5486400" cy="1481328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" y="228600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039112"/>
            <a:ext cx="4343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Données en silos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POS, CRM, ERP, marketing, web analytics : aucune vue consolidée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486400" cy="1481328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19672" y="2286000"/>
            <a:ext cx="457200" cy="457200"/>
          </a:xfrm>
          <a:prstGeom prst="ellipse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59" y="2039112"/>
            <a:ext cx="4343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Reporting manuel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extractions tableur mensuelles, lentes et sujettes aux erreurs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5486400" cy="1481328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3977639"/>
            <a:ext cx="457200" cy="457200"/>
          </a:xfrm>
          <a:prstGeom prst="ellipse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30752"/>
            <a:ext cx="4343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Aucune vision prédictive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pas de prévision structurée pour les achats ou la planification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474720"/>
            <a:ext cx="5486400" cy="1481328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19672" y="3977639"/>
            <a:ext cx="457200" cy="457200"/>
          </a:xfrm>
          <a:prstGeom prst="ellipse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3730752"/>
            <a:ext cx="4343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Incidents détectés tard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erreurs de prix, pannes, fraudes découvertes des semaines après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55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Ma mission : concevoir une plateforme BI centralisée, automatisée et intelligente, démontrable aux clients du cabinet.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2 · OBJECTIFS &amp; DÉMARCHE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Six objectifs — et une contrainte transformée en atout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58521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00" b="1">
                <a:solidFill>
                  <a:srgbClr val="0B0B0B"/>
                </a:solidFill>
                <a:latin typeface="Segoe UI"/>
              </a:rPr>
              <a:t>Collecter — </a:t>
            </a:r>
            <a:r>
              <a:rPr sz="1300">
                <a:solidFill>
                  <a:srgbClr val="52514E"/>
                </a:solidFill>
                <a:latin typeface="Segoe UI"/>
              </a:rPr>
              <a:t>des données multi-sources (ventes, retours, clients, marketing, web, stocks)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00" b="1">
                <a:solidFill>
                  <a:srgbClr val="0B0B0B"/>
                </a:solidFill>
                <a:latin typeface="Segoe UI"/>
              </a:rPr>
              <a:t>Automatiser — </a:t>
            </a:r>
            <a:r>
              <a:rPr sz="1300">
                <a:solidFill>
                  <a:srgbClr val="52514E"/>
                </a:solidFill>
                <a:latin typeface="Segoe UI"/>
              </a:rPr>
              <a:t>des pipelines d'intégration et de fiabilisation, avec audit complet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00" b="1">
                <a:solidFill>
                  <a:srgbClr val="0B0B0B"/>
                </a:solidFill>
                <a:latin typeface="Segoe UI"/>
              </a:rPr>
              <a:t>Structurer — </a:t>
            </a:r>
            <a:r>
              <a:rPr sz="1300">
                <a:solidFill>
                  <a:srgbClr val="52514E"/>
                </a:solidFill>
                <a:latin typeface="Segoe UI"/>
              </a:rPr>
              <a:t>un entrepôt de données performant (schéma en étoile)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00" b="1">
                <a:solidFill>
                  <a:srgbClr val="0B0B0B"/>
                </a:solidFill>
                <a:latin typeface="Segoe UI"/>
              </a:rPr>
              <a:t>Prédire — </a:t>
            </a:r>
            <a:r>
              <a:rPr sz="1300">
                <a:solidFill>
                  <a:srgbClr val="52514E"/>
                </a:solidFill>
                <a:latin typeface="Segoe UI"/>
              </a:rPr>
              <a:t>chiffre d'affaires à 90 jours, anomalies, segments clients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00" b="1">
                <a:solidFill>
                  <a:srgbClr val="0B0B0B"/>
                </a:solidFill>
                <a:latin typeface="Segoe UI"/>
              </a:rPr>
              <a:t>Restituer — </a:t>
            </a:r>
            <a:r>
              <a:rPr sz="1300">
                <a:solidFill>
                  <a:srgbClr val="52514E"/>
                </a:solidFill>
                <a:latin typeface="Segoe UI"/>
              </a:rPr>
              <a:t>une application web moderne + un rapport Power BI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300" b="1">
                <a:solidFill>
                  <a:srgbClr val="0B0B0B"/>
                </a:solidFill>
                <a:latin typeface="Segoe UI"/>
              </a:rPr>
              <a:t>Documenter — </a:t>
            </a:r>
            <a:r>
              <a:rPr sz="1300">
                <a:solidFill>
                  <a:srgbClr val="52514E"/>
                </a:solidFill>
                <a:latin typeface="Segoe UI"/>
              </a:rPr>
              <a:t>pour le transfert aux consultants du cabinet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12280" y="1737360"/>
            <a:ext cx="4828032" cy="44348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86600" y="1965960"/>
            <a:ext cx="427939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34948"/>
                </a:solidFill>
                <a:latin typeface="Segoe UI"/>
              </a:rPr>
              <a:t>CONTRAINTE : CONFIDENTIALITÉ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0B0B0B"/>
                </a:solidFill>
                <a:latin typeface="Segoe UI"/>
              </a:rPr>
              <a:t>Les données clients sont inutilisables pour une démo.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0B0B"/>
                </a:solidFill>
                <a:latin typeface="Segoe UI"/>
              </a:rPr>
              <a:t>→  Jeu de données synthétique haute-fidélité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3 ans d'activité d'un retailer omnicanal du Golfe, généré avec saisonnalités et tendances réalistes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0B0B"/>
                </a:solidFill>
                <a:latin typeface="Segoe UI"/>
              </a:rPr>
              <a:t>→  Incidents et défauts injectés = vérité terrain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pannes, bug de prix, fraude, doublons, formats cassés… à dates connues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C5CAB"/>
                </a:solidFill>
                <a:latin typeface="Segoe UI"/>
              </a:rPr>
              <a:t>→  Évaluation objective de chaque brique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« le détecteur a retrouvé 7 incidents sur 7 » vaut mieux que « ça a l'air correct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2 · OBJECTIFS &amp; DÉMARCHE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Six mois, cinq phases, des démos à chaque jalon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98781"/>
                </a:solidFill>
                <a:latin typeface="Segoe UI"/>
              </a:rPr>
              <a:t>Avril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98781"/>
                </a:solidFill>
                <a:latin typeface="Segoe UI"/>
              </a:rPr>
              <a:t>Mai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98781"/>
                </a:solidFill>
                <a:latin typeface="Segoe UI"/>
              </a:rPr>
              <a:t>Juin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98781"/>
                </a:solidFill>
                <a:latin typeface="Segoe UI"/>
              </a:rPr>
              <a:t>Juillet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98781"/>
                </a:solidFill>
                <a:latin typeface="Segoe UI"/>
              </a:rPr>
              <a:t>Août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98781"/>
                </a:solidFill>
                <a:latin typeface="Segoe UI"/>
              </a:rPr>
              <a:t>Septembre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0B0B"/>
                </a:solidFill>
                <a:latin typeface="Segoe UI"/>
              </a:rPr>
              <a:t>Cadrage &amp; état de l'art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16712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4718303" y="2249424"/>
            <a:ext cx="219456" cy="219456"/>
          </a:xfrm>
          <a:prstGeom prst="diamond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0B0B"/>
                </a:solidFill>
                <a:latin typeface="Segoe UI"/>
              </a:rPr>
              <a:t>Données &amp; entrepôt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88036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6364224" y="2962656"/>
            <a:ext cx="219456" cy="219456"/>
          </a:xfrm>
          <a:prstGeom prst="diamond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39312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0B0B"/>
                </a:solidFill>
                <a:latin typeface="Segoe UI"/>
              </a:rPr>
              <a:t>Machine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593592"/>
            <a:ext cx="2468879" cy="384048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8833104" y="3675888"/>
            <a:ext cx="219456" cy="219456"/>
          </a:xfrm>
          <a:prstGeom prst="diamond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52544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0B0B"/>
                </a:solidFill>
                <a:latin typeface="Segoe UI"/>
              </a:rPr>
              <a:t>Restitution &amp; dashboards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4306824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10479024" y="4389120"/>
            <a:ext cx="219456" cy="219456"/>
          </a:xfrm>
          <a:prstGeom prst="diamond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65776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0B0B"/>
                </a:solidFill>
                <a:latin typeface="Segoe UI"/>
              </a:rPr>
              <a:t>Consolidation &amp; soutenance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502005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11265408" y="5102352"/>
            <a:ext cx="237744" cy="237744"/>
          </a:xfrm>
          <a:prstGeom prst="diamond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5943600"/>
            <a:ext cx="11091672" cy="6858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Segoe UI"/>
              </a:rPr>
              <a:t>Démarche itérative : point hebdomadaire avec le tuteur · ◆ démonstration de fin de phase · chevauchement ML / restitution assumé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3 · ARCHITECTURE &amp; DONNÉES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Une architecture décisionnelle en cinq couches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20240"/>
            <a:ext cx="2084831" cy="28346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2103120"/>
            <a:ext cx="1755648" cy="566928"/>
          </a:xfrm>
          <a:prstGeom prst="roundRect">
            <a:avLst>
              <a:gd name="adj" fmla="val 3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7190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9 extractions CSV
(POS, CRM, ERP,
marketing, web)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42615" y="3154680"/>
            <a:ext cx="292608" cy="256032"/>
          </a:xfrm>
          <a:prstGeom prst="rightArrow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44368" y="1920240"/>
            <a:ext cx="2084831" cy="28346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08960" y="2103120"/>
            <a:ext cx="1755648" cy="566928"/>
          </a:xfrm>
          <a:prstGeom prst="roundRect">
            <a:avLst>
              <a:gd name="adj" fmla="val 3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INGESTION
&amp; QUALITÉ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834640"/>
            <a:ext cx="17190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dédoublonnage,
réparation,
quarantaine,
audit complet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38344" y="3154680"/>
            <a:ext cx="292608" cy="256032"/>
          </a:xfrm>
          <a:prstGeom prst="rightArrow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40096" y="1920240"/>
            <a:ext cx="2084831" cy="28346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04688" y="2103120"/>
            <a:ext cx="1755648" cy="566928"/>
          </a:xfrm>
          <a:prstGeom prst="roundRect">
            <a:avLst>
              <a:gd name="adj" fmla="val 3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ENTREPÔT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2834640"/>
            <a:ext cx="17190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schéma en étoile
SQLite +
agrégats
pré-calculés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434071" y="3154680"/>
            <a:ext cx="292608" cy="256032"/>
          </a:xfrm>
          <a:prstGeom prst="rightArrow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35824" y="1920240"/>
            <a:ext cx="2084831" cy="28346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00416" y="2103120"/>
            <a:ext cx="1755648" cy="566928"/>
          </a:xfrm>
          <a:prstGeom prst="roundRect">
            <a:avLst>
              <a:gd name="adj" fmla="val 30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MACHINE
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18704" y="2834640"/>
            <a:ext cx="17190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prévision 90 j,
anomalies,
segmentation
RFM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829800" y="3154680"/>
            <a:ext cx="292608" cy="256032"/>
          </a:xfrm>
          <a:prstGeom prst="rightArrow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31552" y="1920240"/>
            <a:ext cx="2084831" cy="28346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96144" y="2103120"/>
            <a:ext cx="1755648" cy="566928"/>
          </a:xfrm>
          <a:prstGeom prst="roundRect">
            <a:avLst>
              <a:gd name="adj" fmla="val 3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RESTITUTION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4432" y="2834640"/>
            <a:ext cx="17190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app web Flask
(6 pages) +
Power BI
(5 pages)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0B0B"/>
                </a:solidFill>
                <a:latin typeface="Segoe UI"/>
              </a:rPr>
              <a:t>Orchestration : python run_pipeline.py  →  chaîne complète rejouée en ≈ 1 minute, reproductible (graine fixée)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Trajectoire production documentée : Airflow / Azure Data Factory · PostgreSQL / Synapse · app conteneurisée · Power BI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3 · ARCHITECTURE &amp; DONNÉES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Le jeu de données : réaliste, riche… et instrumenté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2103120" cy="13716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865376"/>
            <a:ext cx="1773936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A78D6"/>
                </a:solidFill>
                <a:latin typeface="Segoe UI"/>
              </a:rPr>
              <a:t>1,03 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lignes de vente
sur 3 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7208" y="1737360"/>
            <a:ext cx="2103120" cy="13716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0" y="1865376"/>
            <a:ext cx="1773936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BAF7A"/>
                </a:solidFill>
                <a:latin typeface="Segoe UI"/>
              </a:rPr>
              <a:t>18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magasins
EAU · KSA · Bahreïn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5776" y="1737360"/>
            <a:ext cx="2103120" cy="13716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1865376"/>
            <a:ext cx="1773936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4A3AA7"/>
                </a:solidFill>
                <a:latin typeface="Segoe UI"/>
              </a:rPr>
              <a:t>320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produits
8 catégories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24344" y="1737360"/>
            <a:ext cx="2103120" cy="13716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88936" y="1865376"/>
            <a:ext cx="1773936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DA100"/>
                </a:solidFill>
                <a:latin typeface="Segoe UI"/>
              </a:rPr>
              <a:t>40 000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clients fidélité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1737360"/>
            <a:ext cx="2103120" cy="13716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47504" y="1865376"/>
            <a:ext cx="1773936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B6834"/>
                </a:solidFill>
                <a:latin typeface="Segoe UI"/>
              </a:rPr>
              <a:t>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fichiers sources
simulés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5440680" cy="269748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48920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RÉALISME DU SIGNAL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50">
                <a:solidFill>
                  <a:srgbClr val="0B0B0B"/>
                </a:solidFill>
                <a:latin typeface="Segoe UI"/>
              </a:rPr>
              <a:t>Saisonnalités : Ramadan / Aïd, Dubai Shopping Festival, White Friday, rentrée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50">
                <a:solidFill>
                  <a:srgbClr val="0B0B0B"/>
                </a:solidFill>
                <a:latin typeface="Segoe UI"/>
              </a:rPr>
              <a:t>Croissance e-commerce +27 %/an vs +9 % magasins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50">
                <a:solidFill>
                  <a:srgbClr val="0B0B0B"/>
                </a:solidFill>
                <a:latin typeface="Segoe UI"/>
              </a:rPr>
              <a:t>Promotions corrélées aux événements, popularité produits en loi de Zipf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50">
                <a:solidFill>
                  <a:srgbClr val="0B0B0B"/>
                </a:solidFill>
                <a:latin typeface="Segoe UI"/>
              </a:rPr>
              <a:t>Comportements clients hétérogènes (log-normale) → segments RFM réels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383280"/>
            <a:ext cx="5440680" cy="269748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611880"/>
            <a:ext cx="48920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34948"/>
                </a:solidFill>
                <a:latin typeface="Segoe UI"/>
              </a:rPr>
              <a:t>VÉRITÉ TERRAIN INJECTÉE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50">
                <a:solidFill>
                  <a:srgbClr val="0B0B0B"/>
                </a:solidFill>
                <a:latin typeface="Segoe UI"/>
              </a:rPr>
              <a:t>8 incidents opérationnels : panne POS, coupure électrique, inondation, bug de prix −50 %, fraude aux retours…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50">
                <a:solidFill>
                  <a:srgbClr val="0B0B0B"/>
                </a:solidFill>
                <a:latin typeface="Segoe UI"/>
              </a:rPr>
              <a:t>Défauts de qualité : doublons d'export, dates JJ/MM/AAAA mélangées, IDs manquants, prix nuls, libellés incohérents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50">
                <a:solidFill>
                  <a:srgbClr val="0B0B0B"/>
                </a:solidFill>
                <a:latin typeface="Segoe UI"/>
              </a:rPr>
              <a:t>Tout est daté et quantifié → chaque module est évaluable objectivement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3 · ARCHITECTURE &amp; DONNÉES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Pipeline ETL : fiabiliser, tracer, charger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783080"/>
          <a:ext cx="6949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097280"/>
                <a:gridCol w="1920240"/>
              </a:tblGrid>
              <a:tr h="47026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52514E"/>
                          </a:solidFill>
                          <a:latin typeface="Segoe UI"/>
                        </a:rPr>
                        <a:t>Défaut détecté</a:t>
                      </a:r>
                    </a:p>
                  </a:txBody>
                  <a:tcPr marL="109728" marR="73152" marT="36576" marB="36576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52514E"/>
                          </a:solidFill>
                          <a:latin typeface="Segoe UI"/>
                        </a:rPr>
                        <a:t>Lignes</a:t>
                      </a:r>
                    </a:p>
                  </a:txBody>
                  <a:tcPr marL="109728" marR="73152" marT="36576" marB="36576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52514E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 marL="109728" marR="73152" marT="36576" marB="36576">
                    <a:solidFill>
                      <a:srgbClr val="F0EFEC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Doublons de transactions (double export POS)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2 573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supprimés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Dates au format JJ/MM/AAAA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61 712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normalisées ISO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Identifiants client manquants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252 978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NULL explicite (invité)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Libellés de paiement incohérents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41 128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normalisés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Quantités négatives / prix nuls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330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quarantaine / réparation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Retours orphelins, e-mails dupliqués…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65+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B0B0B"/>
                          </a:solidFill>
                          <a:latin typeface="Segoe UI"/>
                        </a:rPr>
                        <a:t>quarantaine / flag</a:t>
                      </a:r>
                    </a:p>
                  </a:txBody>
                  <a:tcPr marL="109728" marR="73152" marT="36576" marB="36576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772400" y="1783080"/>
            <a:ext cx="3840480" cy="13716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36992" y="1911095"/>
            <a:ext cx="3511296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BAF7A"/>
                </a:solidFill>
                <a:latin typeface="Segoe UI"/>
              </a:rPr>
              <a:t>≈ 360 000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corrections et décisions qualité,
toutes journalisées (table dq_log)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337560"/>
            <a:ext cx="3840480" cy="13716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36992" y="3465576"/>
            <a:ext cx="3511296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A78D6"/>
                </a:solidFill>
                <a:latin typeface="Segoe UI"/>
              </a:rPr>
              <a:t>≈ 1 min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pour rejouer la chaîne complète :
génération → ETL → ML → exports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892040"/>
            <a:ext cx="3840480" cy="1097280"/>
          </a:xfrm>
          <a:prstGeom prst="roundRect">
            <a:avLst>
              <a:gd name="adj" fmla="val 5500"/>
            </a:avLst>
          </a:prstGeom>
          <a:solidFill>
            <a:srgbClr val="F0EFEC"/>
          </a:solidFill>
          <a:ln w="12700">
            <a:solidFill>
              <a:srgbClr val="89878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2514E"/>
                </a:solidFill>
                <a:latin typeface="Segoe UI"/>
              </a:rPr>
              <a:t>CAPTURE À INSÉRER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Segoe UI"/>
              </a:rPr>
              <a:t>page « Data Pipeline » de l'app (rapport de fiabilisation)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4 · MACHINE LEARNING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Prévision du CA : champion vs challenger, départagés par backtest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55778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2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50" b="1">
                <a:solidFill>
                  <a:srgbClr val="0B0B0B"/>
                </a:solidFill>
                <a:latin typeface="Segoe UI"/>
              </a:rPr>
              <a:t>Holt-Winters — </a:t>
            </a:r>
            <a:r>
              <a:rPr sz="1250">
                <a:solidFill>
                  <a:srgbClr val="52514E"/>
                </a:solidFill>
                <a:latin typeface="Segoe UI"/>
              </a:rPr>
              <a:t>lissage exponentiel triple : niveau, tendance amortie, saisonnalité hebdomadaire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50" b="1">
                <a:solidFill>
                  <a:srgbClr val="0B0B0B"/>
                </a:solidFill>
                <a:latin typeface="Segoe UI"/>
              </a:rPr>
              <a:t>Gradient Boosting — </a:t>
            </a:r>
            <a:r>
              <a:rPr sz="1250">
                <a:solidFill>
                  <a:srgbClr val="52514E"/>
                </a:solidFill>
                <a:latin typeface="Segoe UI"/>
              </a:rPr>
              <a:t>variables calendaires (Ramadan, événements) + retards J-1/7/14/28, prévision récursive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50" b="1">
                <a:solidFill>
                  <a:srgbClr val="0B0B0B"/>
                </a:solidFill>
                <a:latin typeface="Segoe UI"/>
              </a:rPr>
              <a:t>Backtest honnête — </a:t>
            </a:r>
            <a:r>
              <a:rPr sz="1250">
                <a:solidFill>
                  <a:srgbClr val="52514E"/>
                </a:solidFill>
                <a:latin typeface="Segoe UI"/>
              </a:rPr>
              <a:t>60 jours de holdout jamais vus à l'entraînement, MAPE comme juge de paix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50" b="1">
                <a:solidFill>
                  <a:srgbClr val="0B0B0B"/>
                </a:solidFill>
                <a:latin typeface="Segoe UI"/>
              </a:rPr>
              <a:t>Sortie — </a:t>
            </a:r>
            <a:r>
              <a:rPr sz="1250">
                <a:solidFill>
                  <a:srgbClr val="52514E"/>
                </a:solidFill>
                <a:latin typeface="Segoe UI"/>
              </a:rPr>
              <a:t>prévision officielle à 90 jours avec intervalle de confiance à 95 % qui s'élargit avec l'horizon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50" b="1">
                <a:solidFill>
                  <a:srgbClr val="0B0B0B"/>
                </a:solidFill>
                <a:latin typeface="Segoe UI"/>
              </a:rPr>
              <a:t>Par catégorie — </a:t>
            </a:r>
            <a:r>
              <a:rPr sz="1250">
                <a:solidFill>
                  <a:srgbClr val="52514E"/>
                </a:solidFill>
                <a:latin typeface="Segoe UI"/>
              </a:rPr>
              <a:t>8 prévisions Holt-Winters supplémentaires (MAPE 10-24 %)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92240" y="1783080"/>
          <a:ext cx="512064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92240" y="4846320"/>
            <a:ext cx="5120640" cy="11430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C5CAB"/>
                </a:solidFill>
                <a:latin typeface="Segoe UI"/>
              </a:rPr>
              <a:t>Champion : Holt-Winters (MAPE 8,55 %)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La saisonnalité hebdomadaire forte et stable favorise le modèle statistique — un résultat que je sais expliquer, pas subir.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4 · MACHINE LEARNING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Détection d'anomalies : deux détecteurs, validés contre la vérité terrain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5577840" cy="20574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84248"/>
            <a:ext cx="50292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4A3AA7"/>
                </a:solidFill>
                <a:latin typeface="Segoe UI"/>
              </a:rPr>
              <a:t>ISOLATION FOREST — multivarié, niveau entreprise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Chaque journée = un vecteur de KPIs (CA, commandes, panier, remises, marge, remboursements). Détecte les combinaisons étranges : le bug de prix avait un CA normal mais une marge effondrée.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023360"/>
            <a:ext cx="5577840" cy="20574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24528"/>
            <a:ext cx="50292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A78D6"/>
                </a:solidFill>
                <a:latin typeface="Segoe UI"/>
              </a:rPr>
              <a:t>Z-SCORE ROBUSTE — univarié, par magasin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Référence « même jour de semaine » (8 dernières occurrences) + plancher de variance + règle de sauvegarde sur l'ampleur relative. Même logique sur les retours pour la fraude.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83080"/>
            <a:ext cx="5212080" cy="16916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911095"/>
            <a:ext cx="4882896" cy="1435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BAF7A"/>
                </a:solidFill>
                <a:latin typeface="Segoe UI"/>
              </a:rPr>
              <a:t>7 / 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incidents injectés retrouvés par les détecteurs combinés (panne POS, coupure, inondation, vente flash, bug de prix, pic e-commerce, fraude aux retours)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657600"/>
            <a:ext cx="5212080" cy="242316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3858768"/>
            <a:ext cx="46634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E34948"/>
                </a:solidFill>
                <a:latin typeface="Segoe UI"/>
              </a:rPr>
              <a:t>LEÇON D'INGÉNIERIE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0B0B"/>
                </a:solidFill>
                <a:latin typeface="Segoe UI"/>
              </a:rPr>
              <a:t>Le premier détecteur manquait des effondrements de −75 %.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Segoe UI"/>
              </a:rPr>
              <a:t>Diagnostic chiffré dans l'entrepôt : la saisonnalité hebdomadaire et les ventes à queue lourde gonflaient l'écart-type sur 8 points. Correction : baseline même-jour-de-semaine, réalisme du générateur (popularité ↓ avec le prix), garde-fous d'ampleur.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4 · MACHINE LEARNING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Segmentation RFM : de la donnée client à l'action marketing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737360"/>
          <a:ext cx="48463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1874519"/>
            <a:ext cx="5669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 b="1">
                <a:solidFill>
                  <a:srgbClr val="0B0B0B"/>
                </a:solidFill>
                <a:latin typeface="Segoe UI"/>
              </a:rPr>
              <a:t>Méthode — </a:t>
            </a:r>
            <a:r>
              <a:rPr sz="1200">
                <a:solidFill>
                  <a:srgbClr val="52514E"/>
                </a:solidFill>
                <a:latin typeface="Segoe UI"/>
              </a:rPr>
              <a:t>RFM (récence, fréquence, montant), log-transformé + KMeans k=5, étiquetage automatique des centroïdes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 b="1">
                <a:solidFill>
                  <a:srgbClr val="0B0B0B"/>
                </a:solidFill>
                <a:latin typeface="Segoe UI"/>
              </a:rPr>
              <a:t>Structure retrouvée — </a:t>
            </a:r>
            <a:r>
              <a:rPr sz="1200">
                <a:solidFill>
                  <a:srgbClr val="52514E"/>
                </a:solidFill>
                <a:latin typeface="Segoe UI"/>
              </a:rPr>
              <a:t>≈ 14 % des clients (Champions) concentrent 45 % du CA — conforme au retail réel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 b="1">
                <a:solidFill>
                  <a:srgbClr val="0B0B0B"/>
                </a:solidFill>
                <a:latin typeface="Segoe UI"/>
              </a:rPr>
              <a:t>Scores individuels — </a:t>
            </a:r>
            <a:r>
              <a:rPr sz="1200">
                <a:solidFill>
                  <a:srgbClr val="52514E"/>
                </a:solidFill>
                <a:latin typeface="Segoe UI"/>
              </a:rPr>
              <a:t>risque d'attrition (logistique, seuil 120 j) et valeur client annualisée (CLV)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4206240"/>
            <a:ext cx="5669280" cy="1783080"/>
          </a:xfrm>
          <a:prstGeom prst="roundRect">
            <a:avLst>
              <a:gd name="adj" fmla="val 55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Livrable actionnable : la churn watchlist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DE2FB"/>
                </a:solidFill>
                <a:latin typeface="Segoe UI"/>
              </a:rPr>
              <a:t>Clients à forte valeur ET à risque d'attrition élevé, triés par CLV — une campagne de rétention prête à lancer pour le marketing.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5 · RESTITUTION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Deux front-ends, un même modèle sémantique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86400" cy="3017520"/>
          </a:xfrm>
          <a:prstGeom prst="roundRect">
            <a:avLst>
              <a:gd name="adj" fmla="val 5500"/>
            </a:avLst>
          </a:prstGeom>
          <a:solidFill>
            <a:srgbClr val="F0EFEC"/>
          </a:solidFill>
          <a:ln w="12700">
            <a:solidFill>
              <a:srgbClr val="89878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2514E"/>
                </a:solidFill>
                <a:latin typeface="Segoe UI"/>
              </a:rPr>
              <a:t>CAPTURE À INSÉRER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Segoe UI"/>
              </a:rPr>
              <a:t>app Flask — page Executive Overview (ou Forecasting), mode clair ou sombre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89204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Application web Flask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00">
                <a:solidFill>
                  <a:srgbClr val="0B0B0B"/>
                </a:solidFill>
                <a:latin typeface="Segoe UI"/>
              </a:rPr>
              <a:t>6 pages · ~20 endpoints JSON · &lt; 100 ms grâce aux agrégats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00">
                <a:solidFill>
                  <a:srgbClr val="0B0B0B"/>
                </a:solidFill>
                <a:latin typeface="Segoe UI"/>
              </a:rPr>
              <a:t>design system type shadcn/ui, mode sombre, palette accessible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737360"/>
            <a:ext cx="5486400" cy="3017520"/>
          </a:xfrm>
          <a:prstGeom prst="roundRect">
            <a:avLst>
              <a:gd name="adj" fmla="val 5500"/>
            </a:avLst>
          </a:prstGeom>
          <a:solidFill>
            <a:srgbClr val="F0EFEC"/>
          </a:solidFill>
          <a:ln w="12700">
            <a:solidFill>
              <a:srgbClr val="89878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2514E"/>
                </a:solidFill>
                <a:latin typeface="Segoe UI"/>
              </a:rPr>
              <a:t>CAPTURE À INSÉRER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98781"/>
                </a:solidFill>
                <a:latin typeface="Segoe UI"/>
              </a:rPr>
              <a:t>rapport Power BI — page Executive Overview ou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489204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Rapport Power BI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00">
                <a:solidFill>
                  <a:srgbClr val="0B0B0B"/>
                </a:solidFill>
                <a:latin typeface="Segoe UI"/>
              </a:rPr>
              <a:t>modèle en étoile · 36 mesures DAX (time intelligence, ML) · 5 pages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100">
                <a:solidFill>
                  <a:srgbClr val="0B0B0B"/>
                </a:solidFill>
                <a:latin typeface="Segoe UI"/>
              </a:rPr>
              <a:t>thème personnalisé aligné sur l'app · généré au format projet PBIP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6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CDE2FB"/>
                </a:solidFill>
                <a:latin typeface="Segoe UI"/>
              </a:rPr>
              <a:t>DÉMONSTRATION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La plateforme en conditions réelles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931920"/>
            <a:ext cx="2514600" cy="1051560"/>
          </a:xfrm>
          <a:prstGeom prst="roundRect">
            <a:avLst>
              <a:gd name="adj" fmla="val 5500"/>
            </a:avLst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1 · Pipeline en direct (ETL + qualité)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93592" y="3931920"/>
            <a:ext cx="2514600" cy="1051560"/>
          </a:xfrm>
          <a:prstGeom prst="roundRect">
            <a:avLst>
              <a:gd name="adj" fmla="val 5500"/>
            </a:avLst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2 · Executive Overview &amp; mode sombre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3931920"/>
            <a:ext cx="2514600" cy="1051560"/>
          </a:xfrm>
          <a:prstGeom prst="roundRect">
            <a:avLst>
              <a:gd name="adj" fmla="val 5500"/>
            </a:avLst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3 · Forecast + validation des anomalies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51976" y="3931920"/>
            <a:ext cx="2514600" cy="1051560"/>
          </a:xfrm>
          <a:prstGeom prst="roundRect">
            <a:avLst>
              <a:gd name="adj" fmla="val 5500"/>
            </a:avLst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4 · Rapport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DE2FB"/>
                </a:solidFill>
                <a:latin typeface="Segoe UI"/>
              </a:rPr>
              <a:t>Soutenance PFE · Bahgat Insight Platform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6 · BILAN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Résultats mesurés — et enseignements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2651760" cy="14630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865376"/>
            <a:ext cx="2322576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C5CAB"/>
                </a:solidFill>
                <a:latin typeface="Segoe UI"/>
              </a:rPr>
              <a:t>8,55 %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MAPE de la prévision
(backtest 60 j)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92424" y="1737360"/>
            <a:ext cx="2651760" cy="14630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57016" y="1865376"/>
            <a:ext cx="2322576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BAF7A"/>
                </a:solidFill>
                <a:latin typeface="Segoe UI"/>
              </a:rPr>
              <a:t>100 %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des incidents injectés
détectés (7/7)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7" y="1737360"/>
            <a:ext cx="2651760" cy="14630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799" y="1865376"/>
            <a:ext cx="2322576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4A3AA7"/>
                </a:solidFill>
                <a:latin typeface="Segoe UI"/>
              </a:rPr>
              <a:t>360 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corrections qualité
journalisées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9992" y="1737360"/>
            <a:ext cx="2651760" cy="146304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44584" y="1865376"/>
            <a:ext cx="2322576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EDA100"/>
                </a:solidFill>
                <a:latin typeface="Segoe UI"/>
              </a:rPr>
              <a:t>≈ 1 min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Segoe UI"/>
              </a:rPr>
              <a:t>chaîne complète
reproductible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5486400" cy="265176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493776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POUR LE CABINET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Un démonstrateur commercial sans aucune donnée réelle exposée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Une base de code réutilisable par mission (source-agnostique)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Une bibliothèque DAX et un design system prêts à l'emploi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429000"/>
            <a:ext cx="5486400" cy="265176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657600"/>
            <a:ext cx="493776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BAF7A"/>
                </a:solidFill>
                <a:latin typeface="Segoe UI"/>
              </a:rPr>
              <a:t>CE QUE J'AI APPRIS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Ingénierie des données : modélisation Kimball, pipelines audités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Évaluation honnête : backtests sans fuite, vérité terrain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Robustesse statistique face aux données réalistes (queues lourdes)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Communication : rendre le ML intelligible pour des décideurs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6 · BILAN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0B0B"/>
                </a:solidFill>
                <a:latin typeface="Segoe UI"/>
              </a:rPr>
              <a:t>Limites assumées, feuille de route tracée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5486400" cy="41148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E34948"/>
                </a:solidFill>
                <a:latin typeface="Segoe UI"/>
              </a:rPr>
              <a:t>LIMITES (DÉMONSTRATEUR)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Entrepôt SQLite local, app non authentifiée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Prévision univariée par périmètre (pas de covariables promo / marketing)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Score de churn heuristique (pas d'étiquettes réelles)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Rafraîchissement Power BI manuel en local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Pas de boucle de retour analyste sur les alertes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783080"/>
            <a:ext cx="5486400" cy="4114800"/>
          </a:xfrm>
          <a:prstGeom prst="roundRect">
            <a:avLst>
              <a:gd name="adj" fmla="val 55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201168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BAF7A"/>
                </a:solidFill>
                <a:latin typeface="Segoe UI"/>
              </a:rPr>
              <a:t>FEUILLE DE ROUTE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PostgreSQL / Synapse + orchestration Airflow ou Data Factory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Covariables exogènes et modèles multivariés (LightGBM, SARIMAX)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Churn supervisé dès que des labels existent + MLOps (suivi de dérive)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Power BI Service : actualisation planifiée, row-level security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•  </a:t>
            </a:r>
            <a:r>
              <a:rPr sz="1200">
                <a:solidFill>
                  <a:srgbClr val="0B0B0B"/>
                </a:solidFill>
                <a:latin typeface="Segoe UI"/>
              </a:rPr>
              <a:t>Boucle analyste : confirmer / rejeter les alertes pour affiner les seuils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98781"/>
                </a:solidFill>
                <a:latin typeface="Segoe UI"/>
              </a:rPr>
              <a:t>Soutenance PFE · Bahgat Insight Platform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6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Merci de votre attention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DE2FB"/>
                </a:solidFill>
                <a:latin typeface="Segoe UI"/>
              </a:rPr>
              <a:t>Place à vos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DE2FB"/>
                </a:solidFill>
                <a:latin typeface="Segoe UI"/>
              </a:rPr>
              <a:t>BEN SAID Nassim · INSA Hauts-de-France · Bahgat IT Expert, Dubaï · [email]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DE2FB"/>
                </a:solidFill>
                <a:latin typeface="Segoe UI"/>
              </a:rPr>
              <a:t>Soutenance PFE · Bahgat Insight Platform ·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