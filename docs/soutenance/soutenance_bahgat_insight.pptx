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2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2"/>
  </p:sldMasterIdLst>
  <p:notesMasterIdLst>
    <p:notesMasterId r:id="rId2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fr-FR" sz="1200" b="1">
                <a:solidFill>
                  <a:srgbClr val="0B0B0B"/>
                </a:solidFill>
                <a:latin typeface="Segoe UI"/>
              </a:rPr>
              <a:t>Erreur de prévision (MAPE, holdout 60 j)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MAPE (%)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1C5CAB"/>
              </a:solidFill>
            </c:spPr>
            <c:extLst>
              <c:ext xmlns:c16="http://schemas.microsoft.com/office/drawing/2014/chart" uri="{C3380CC4-5D6E-409C-BE32-E72D297353CC}">
                <c16:uniqueId val="{00000001-9CFF-44AF-882B-631DB2F6D251}"/>
              </c:ext>
            </c:extLst>
          </c:dPt>
          <c:dPt>
            <c:idx val="1"/>
            <c:invertIfNegative val="1"/>
            <c:bubble3D val="0"/>
            <c:spPr>
              <a:solidFill>
                <a:srgbClr val="EDA100"/>
              </a:solidFill>
            </c:spPr>
            <c:extLst>
              <c:ext xmlns:c16="http://schemas.microsoft.com/office/drawing/2014/chart" uri="{C3380CC4-5D6E-409C-BE32-E72D297353CC}">
                <c16:uniqueId val="{00000003-9CFF-44AF-882B-631DB2F6D251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Holt-Winters</c:v>
                </c:pt>
                <c:pt idx="1">
                  <c:v>Gradient Boosting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7.5</c:v>
                </c:pt>
                <c:pt idx="1">
                  <c:v>8.67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CFF-44AF-882B-631DB2F6D25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000">
          <a:latin typeface="Segoe U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r>
              <a:rPr lang="fr-FR" sz="1200" b="1">
                <a:solidFill>
                  <a:srgbClr val="0B0B0B"/>
                </a:solidFill>
                <a:latin typeface="Segoe UI"/>
              </a:rPr>
              <a:t>Part du chiffre d'affaires par segment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Part du CA (%)</c:v>
                </c:pt>
              </c:strCache>
            </c:strRef>
          </c:tx>
          <c:dPt>
            <c:idx val="0"/>
            <c:bubble3D val="0"/>
            <c:spPr>
              <a:solidFill>
                <a:srgbClr val="2A78D6"/>
              </a:solidFill>
            </c:spPr>
            <c:extLst>
              <c:ext xmlns:c16="http://schemas.microsoft.com/office/drawing/2014/chart" uri="{C3380CC4-5D6E-409C-BE32-E72D297353CC}">
                <c16:uniqueId val="{00000001-DDC8-4197-ACFD-8100D435D040}"/>
              </c:ext>
            </c:extLst>
          </c:dPt>
          <c:dPt>
            <c:idx val="1"/>
            <c:bubble3D val="0"/>
            <c:spPr>
              <a:solidFill>
                <a:srgbClr val="1BAF7A"/>
              </a:solidFill>
            </c:spPr>
            <c:extLst>
              <c:ext xmlns:c16="http://schemas.microsoft.com/office/drawing/2014/chart" uri="{C3380CC4-5D6E-409C-BE32-E72D297353CC}">
                <c16:uniqueId val="{00000003-DDC8-4197-ACFD-8100D435D040}"/>
              </c:ext>
            </c:extLst>
          </c:dPt>
          <c:dPt>
            <c:idx val="2"/>
            <c:bubble3D val="0"/>
            <c:spPr>
              <a:solidFill>
                <a:srgbClr val="EDA100"/>
              </a:solidFill>
            </c:spPr>
            <c:extLst>
              <c:ext xmlns:c16="http://schemas.microsoft.com/office/drawing/2014/chart" uri="{C3380CC4-5D6E-409C-BE32-E72D297353CC}">
                <c16:uniqueId val="{00000005-DDC8-4197-ACFD-8100D435D040}"/>
              </c:ext>
            </c:extLst>
          </c:dPt>
          <c:dPt>
            <c:idx val="3"/>
            <c:bubble3D val="0"/>
            <c:spPr>
              <a:solidFill>
                <a:srgbClr val="4A3AA7"/>
              </a:solidFill>
            </c:spPr>
            <c:extLst>
              <c:ext xmlns:c16="http://schemas.microsoft.com/office/drawing/2014/chart" uri="{C3380CC4-5D6E-409C-BE32-E72D297353CC}">
                <c16:uniqueId val="{00000007-DDC8-4197-ACFD-8100D435D040}"/>
              </c:ext>
            </c:extLst>
          </c:dPt>
          <c:dPt>
            <c:idx val="4"/>
            <c:bubble3D val="0"/>
            <c:spPr>
              <a:solidFill>
                <a:srgbClr val="898781"/>
              </a:solidFill>
            </c:spPr>
            <c:extLst>
              <c:ext xmlns:c16="http://schemas.microsoft.com/office/drawing/2014/chart" uri="{C3380CC4-5D6E-409C-BE32-E72D297353CC}">
                <c16:uniqueId val="{00000009-DDC8-4197-ACFD-8100D435D040}"/>
              </c:ext>
            </c:extLst>
          </c:dPt>
          <c:cat>
            <c:strRef>
              <c:f>Sheet1!$A$2:$A$6</c:f>
              <c:strCache>
                <c:ptCount val="5"/>
                <c:pt idx="0">
                  <c:v>Champions</c:v>
                </c:pt>
                <c:pt idx="1">
                  <c:v>Loyal Customers</c:v>
                </c:pt>
                <c:pt idx="2">
                  <c:v>Slipping Away</c:v>
                </c:pt>
                <c:pt idx="3">
                  <c:v>Promising Mid-Tier</c:v>
                </c:pt>
                <c:pt idx="4">
                  <c:v>Hibernating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47.4</c:v>
                </c:pt>
                <c:pt idx="1">
                  <c:v>32.6</c:v>
                </c:pt>
                <c:pt idx="2">
                  <c:v>11.9</c:v>
                </c:pt>
                <c:pt idx="3">
                  <c:v>7.3</c:v>
                </c:pt>
                <c:pt idx="4">
                  <c:v>0.8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DDC8-4197-ACFD-8100D435D0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r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0552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Bonjour à tous. Je vais vous présenter mon projet de fin d'études, réalisé en six mois chez Bahgat IT Expert à Dubaï : la conception et le développement complet d'une plateforme de Business Intelligence pilotée par l'IA, de la donnée brute jusqu'aux tableaux de bord. [Compléter les noms des tuteurs sur la slide.]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 plan suit la chaîne de valeur de la donnée : le contexte, la démarche, puis la réalisation technique en trois temps (données, ML, restitution), une démonstration en direct, et le bilan.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Bahgat IT Expert est un cabinet original : à la croisée de l'expertise technique et judiciaire. Mon stage s'est déroulé dans la practice Data &amp; BI, dont l'ambition est d'industrialiser son offre — c'est exactement l'objet de mon projet.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Quatre douleurs reviennent chez tous les clients de la practice : silos, reporting manuel, absence de prévision, détection tardive des incidents. Ma mission répond à ces quatre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Point clé de la soutenance : la confidentialité n'a pas été subie mais transformée en atout méthodologique. Générer les données me donne la vérité terrain, donc la capacité d'évaluer objectivement l'ETL et le ML — impossible avec des données réelles non annotées. La plateforme reste 100 % agnostique de la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 projet a été conduit en cinq phases avec des jalons de démonstration. Les phases ML et restitution se chevauchent volontairement : les premières pages de dashboards ont servi à valider les sorties des modèles.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Architecture décisionnelle classique en couches, orchestrée par une commande unique. Chaque brique est remplaçable indépendamment — c'est ce qui rend la migration vers la production incrémentale : SQLite vers PostgreSQL est un changement de connexion.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 générateur superpose plusieurs couches de signal calibrées sur le retail du Golfe. Et surtout : on y injecte des incidents et des défauts CONNUS. C'est la base de toute l'évaluation qui suit. Chiffres à actualiser après la dernière exécution du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L'ETL applique une action adaptée à chaque défaut : suppression, normalisation, réparation par référentiel, ou quarantaine. Rien n'est silencieux : chaque correction est comptée et affichée dans l'application — argument d'auditabilité fort en contexte de conseil. Chiffres à actualiser après la dernière exécution.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Démarche champion/challenger : plutôt que de choisir un modèle par idéologie, les deux sont évalués sur un holdout de 60 jours. Le statistique gagne — et c'est explicable : série à forte saisonnalité hebdomadaire stable. Si le jury demande pourquoi pas du deep learning : 1100 points, saisonnalité simple, interprétabilité et coût — le backtest tranche.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Deux détecteurs complémentaires : le multivarié attrape les incidents systémiques, le z-score par magasin les incidents localisés. La validation contre la vérité terrain donne un rappel objectif. Racontez la leçon d'ingénierie : c'est votre meilleure réponse à « quelle a été la difficulté principale ? ». Vérifier le 7/7 sur la page Anomalies après la dernière exécution.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 segmentation n'est pas une fin en soi : le croisement segment × churn × CLV produit une liste de surveillance directement exploitable. Chiffres du donut à actualiser après la dernière exécution du pipeline (page Customers).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Deux canaux volontairement : l'app web pour la démo interactive et le sur-mesure, Power BI parce que c'est l'outil standard des clients du cabinet. Les deux consomment le même entrepôt — un seul modèle sémantique, deux restitutions. Insérer les captures.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Basculer sur l'application. Séquence rodée : 1) relancer un étage du pipeline pour montrer le journal de qualité en direct ; 2) l'Overview avec les KPI et le mode sombre ; 3) la prévision et surtout le panneau de validation 7/7 des anomalies ; 4) finir sur Power BI avec un slicer. Garder un enregistrement d'écran en secours.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Chaque résultat est mesuré, pas déclaré : c'est la conséquence directe de la stratégie de vérité terrain. Côté compétences, insister sur la double dimension technique et conseil.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Assumer les limites avant que le jury ne les trouve : c'est un démonstrateur, et chaque limite a sa réponse documentée dans la feuille de route remise au cabinet.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Questions probables : pourquoi des données synthétiques (réponse : confidentialité + vérité terrain mesurable) ; pourquoi Holt-Winters (backtest, saisonnalité stable) ; scalabilité (architecture en couches, migration incrémentale) ; faux positifs (contamination bornée, garde-fous, sévérités). Les réponses détaillées sont dans docs/presentation_guide.md.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hrSlideMaster.Title SlideHeader" descr="WTO - Internal">
            <a:extLst>
              <a:ext uri="{FF2B5EF4-FFF2-40B4-BE49-F238E27FC236}">
                <a16:creationId xmlns:a16="http://schemas.microsoft.com/office/drawing/2014/main" id="{5078D6EB-35CA-DB74-DFC4-1AECFD6ED918}"/>
              </a:ext>
            </a:extLst>
          </p:cNvPr>
          <p:cNvSpPr txBox="1"/>
          <p:nvPr userDrawn="1"/>
        </p:nvSpPr>
        <p:spPr>
          <a:xfrm>
            <a:off x="0" y="91440"/>
            <a:ext cx="12192000" cy="223138"/>
          </a:xfrm>
          <a:prstGeom prst="rect">
            <a:avLst/>
          </a:prstGeom>
          <a:noFill/>
        </p:spPr>
        <p:txBody>
          <a:bodyPr vert="horz" rIns="91440" rtlCol="0">
            <a:spAutoFit/>
          </a:bodyPr>
          <a:lstStyle/>
          <a:p>
            <a:pPr algn="r"/>
            <a:r>
              <a:rPr lang="en-GB" sz="850" b="0" i="0" u="none" strike="noStrike" baseline="0">
                <a:solidFill>
                  <a:srgbClr val="235C24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WTO - Internal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hrSlideMaster.Title and ContentHeader" descr="WTO - Internal">
            <a:extLst>
              <a:ext uri="{FF2B5EF4-FFF2-40B4-BE49-F238E27FC236}">
                <a16:creationId xmlns:a16="http://schemas.microsoft.com/office/drawing/2014/main" id="{37759ECD-AB8B-6BD3-5AD1-0EDD78150BD8}"/>
              </a:ext>
            </a:extLst>
          </p:cNvPr>
          <p:cNvSpPr txBox="1"/>
          <p:nvPr userDrawn="1"/>
        </p:nvSpPr>
        <p:spPr>
          <a:xfrm>
            <a:off x="0" y="91440"/>
            <a:ext cx="12192000" cy="223138"/>
          </a:xfrm>
          <a:prstGeom prst="rect">
            <a:avLst/>
          </a:prstGeom>
          <a:noFill/>
        </p:spPr>
        <p:txBody>
          <a:bodyPr vert="horz" rIns="91440" rtlCol="0">
            <a:spAutoFit/>
          </a:bodyPr>
          <a:lstStyle/>
          <a:p>
            <a:pPr algn="r"/>
            <a:r>
              <a:rPr lang="en-GB" sz="850" b="0" i="0" u="none" strike="noStrike" baseline="0">
                <a:solidFill>
                  <a:srgbClr val="235C24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WTO - Internal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hrSlideMaster.Section HeaderHeader" descr="WTO - Internal">
            <a:extLst>
              <a:ext uri="{FF2B5EF4-FFF2-40B4-BE49-F238E27FC236}">
                <a16:creationId xmlns:a16="http://schemas.microsoft.com/office/drawing/2014/main" id="{4F7060BA-C364-D08D-71B0-230A934EE58F}"/>
              </a:ext>
            </a:extLst>
          </p:cNvPr>
          <p:cNvSpPr txBox="1"/>
          <p:nvPr userDrawn="1"/>
        </p:nvSpPr>
        <p:spPr>
          <a:xfrm>
            <a:off x="0" y="91440"/>
            <a:ext cx="12192000" cy="223138"/>
          </a:xfrm>
          <a:prstGeom prst="rect">
            <a:avLst/>
          </a:prstGeom>
          <a:noFill/>
        </p:spPr>
        <p:txBody>
          <a:bodyPr vert="horz" rIns="91440" rtlCol="0">
            <a:spAutoFit/>
          </a:bodyPr>
          <a:lstStyle/>
          <a:p>
            <a:pPr algn="r"/>
            <a:r>
              <a:rPr lang="en-GB" sz="850" b="0" i="0" u="none" strike="noStrike" baseline="0">
                <a:solidFill>
                  <a:srgbClr val="235C24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WTO - Internal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hrSlideMaster.Two ContentHeader" descr="WTO - Internal">
            <a:extLst>
              <a:ext uri="{FF2B5EF4-FFF2-40B4-BE49-F238E27FC236}">
                <a16:creationId xmlns:a16="http://schemas.microsoft.com/office/drawing/2014/main" id="{8DE5ECA4-4BF8-4767-BEA1-612F0D84C4EC}"/>
              </a:ext>
            </a:extLst>
          </p:cNvPr>
          <p:cNvSpPr txBox="1"/>
          <p:nvPr userDrawn="1"/>
        </p:nvSpPr>
        <p:spPr>
          <a:xfrm>
            <a:off x="0" y="91440"/>
            <a:ext cx="12192000" cy="223138"/>
          </a:xfrm>
          <a:prstGeom prst="rect">
            <a:avLst/>
          </a:prstGeom>
          <a:noFill/>
        </p:spPr>
        <p:txBody>
          <a:bodyPr vert="horz" rIns="91440" rtlCol="0">
            <a:spAutoFit/>
          </a:bodyPr>
          <a:lstStyle/>
          <a:p>
            <a:pPr algn="r"/>
            <a:r>
              <a:rPr lang="en-GB" sz="850" b="0" i="0" u="none" strike="noStrike" baseline="0">
                <a:solidFill>
                  <a:srgbClr val="235C24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WTO - Internal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hrSlideMaster.ComparisonHeader" descr="WTO - Internal">
            <a:extLst>
              <a:ext uri="{FF2B5EF4-FFF2-40B4-BE49-F238E27FC236}">
                <a16:creationId xmlns:a16="http://schemas.microsoft.com/office/drawing/2014/main" id="{7A544A30-1C80-4871-CDDA-43C224C12E90}"/>
              </a:ext>
            </a:extLst>
          </p:cNvPr>
          <p:cNvSpPr txBox="1"/>
          <p:nvPr userDrawn="1"/>
        </p:nvSpPr>
        <p:spPr>
          <a:xfrm>
            <a:off x="0" y="91440"/>
            <a:ext cx="12192000" cy="223138"/>
          </a:xfrm>
          <a:prstGeom prst="rect">
            <a:avLst/>
          </a:prstGeom>
          <a:noFill/>
        </p:spPr>
        <p:txBody>
          <a:bodyPr vert="horz" rIns="91440" rtlCol="0">
            <a:spAutoFit/>
          </a:bodyPr>
          <a:lstStyle/>
          <a:p>
            <a:pPr algn="r"/>
            <a:r>
              <a:rPr lang="en-GB" sz="850" b="0" i="0" u="none" strike="noStrike" baseline="0">
                <a:solidFill>
                  <a:srgbClr val="235C24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WTO - Internal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hrSlideMaster.Title OnlyHeader" descr="WTO - Internal">
            <a:extLst>
              <a:ext uri="{FF2B5EF4-FFF2-40B4-BE49-F238E27FC236}">
                <a16:creationId xmlns:a16="http://schemas.microsoft.com/office/drawing/2014/main" id="{23F12AA5-E44B-0122-D973-FA525B02F07E}"/>
              </a:ext>
            </a:extLst>
          </p:cNvPr>
          <p:cNvSpPr txBox="1"/>
          <p:nvPr userDrawn="1"/>
        </p:nvSpPr>
        <p:spPr>
          <a:xfrm>
            <a:off x="0" y="91440"/>
            <a:ext cx="12192000" cy="223138"/>
          </a:xfrm>
          <a:prstGeom prst="rect">
            <a:avLst/>
          </a:prstGeom>
          <a:noFill/>
        </p:spPr>
        <p:txBody>
          <a:bodyPr vert="horz" rIns="91440" rtlCol="0">
            <a:spAutoFit/>
          </a:bodyPr>
          <a:lstStyle/>
          <a:p>
            <a:pPr algn="r"/>
            <a:r>
              <a:rPr lang="en-GB" sz="850" b="0" i="0" u="none" strike="noStrike" baseline="0">
                <a:solidFill>
                  <a:srgbClr val="235C24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WTO - Internal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hrSlideMaster.BlankHeader" descr="WTO - Internal">
            <a:extLst>
              <a:ext uri="{FF2B5EF4-FFF2-40B4-BE49-F238E27FC236}">
                <a16:creationId xmlns:a16="http://schemas.microsoft.com/office/drawing/2014/main" id="{3125CE80-853A-EA70-338C-DF877B5E1CB4}"/>
              </a:ext>
            </a:extLst>
          </p:cNvPr>
          <p:cNvSpPr txBox="1"/>
          <p:nvPr userDrawn="1"/>
        </p:nvSpPr>
        <p:spPr>
          <a:xfrm>
            <a:off x="0" y="91440"/>
            <a:ext cx="12192000" cy="223138"/>
          </a:xfrm>
          <a:prstGeom prst="rect">
            <a:avLst/>
          </a:prstGeom>
          <a:noFill/>
        </p:spPr>
        <p:txBody>
          <a:bodyPr vert="horz" rIns="91440" rtlCol="0">
            <a:spAutoFit/>
          </a:bodyPr>
          <a:lstStyle/>
          <a:p>
            <a:pPr algn="r"/>
            <a:r>
              <a:rPr lang="en-GB" sz="850" b="0" i="0" u="none" strike="noStrike" baseline="0">
                <a:solidFill>
                  <a:srgbClr val="235C24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WTO - Internal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hrSlideMaster.Content with CaptionHeader" descr="WTO - Internal">
            <a:extLst>
              <a:ext uri="{FF2B5EF4-FFF2-40B4-BE49-F238E27FC236}">
                <a16:creationId xmlns:a16="http://schemas.microsoft.com/office/drawing/2014/main" id="{92DBB367-EA5A-11B5-E7A8-385FDB7B34AC}"/>
              </a:ext>
            </a:extLst>
          </p:cNvPr>
          <p:cNvSpPr txBox="1"/>
          <p:nvPr userDrawn="1"/>
        </p:nvSpPr>
        <p:spPr>
          <a:xfrm>
            <a:off x="0" y="91440"/>
            <a:ext cx="12192000" cy="223138"/>
          </a:xfrm>
          <a:prstGeom prst="rect">
            <a:avLst/>
          </a:prstGeom>
          <a:noFill/>
        </p:spPr>
        <p:txBody>
          <a:bodyPr vert="horz" rIns="91440" rtlCol="0">
            <a:spAutoFit/>
          </a:bodyPr>
          <a:lstStyle/>
          <a:p>
            <a:pPr algn="r"/>
            <a:r>
              <a:rPr lang="en-GB" sz="850" b="0" i="0" u="none" strike="noStrike" baseline="0">
                <a:solidFill>
                  <a:srgbClr val="235C24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WTO - Internal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hrSlideMaster.Picture with CaptionHeader" descr="WTO - Internal">
            <a:extLst>
              <a:ext uri="{FF2B5EF4-FFF2-40B4-BE49-F238E27FC236}">
                <a16:creationId xmlns:a16="http://schemas.microsoft.com/office/drawing/2014/main" id="{7B5CF06B-00C6-7395-420D-C5195B440141}"/>
              </a:ext>
            </a:extLst>
          </p:cNvPr>
          <p:cNvSpPr txBox="1"/>
          <p:nvPr userDrawn="1"/>
        </p:nvSpPr>
        <p:spPr>
          <a:xfrm>
            <a:off x="0" y="91440"/>
            <a:ext cx="12192000" cy="223138"/>
          </a:xfrm>
          <a:prstGeom prst="rect">
            <a:avLst/>
          </a:prstGeom>
          <a:noFill/>
        </p:spPr>
        <p:txBody>
          <a:bodyPr vert="horz" rIns="91440" rtlCol="0">
            <a:spAutoFit/>
          </a:bodyPr>
          <a:lstStyle/>
          <a:p>
            <a:pPr algn="r"/>
            <a:r>
              <a:rPr lang="en-GB" sz="850" b="0" i="0" u="none" strike="noStrike" baseline="0">
                <a:solidFill>
                  <a:srgbClr val="235C24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WTO - Internal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hrSlideMaster.Title and Vertical TextHeader" descr="WTO - Internal">
            <a:extLst>
              <a:ext uri="{FF2B5EF4-FFF2-40B4-BE49-F238E27FC236}">
                <a16:creationId xmlns:a16="http://schemas.microsoft.com/office/drawing/2014/main" id="{30D2BE3F-1806-309B-1035-B0AE768E4F37}"/>
              </a:ext>
            </a:extLst>
          </p:cNvPr>
          <p:cNvSpPr txBox="1"/>
          <p:nvPr userDrawn="1"/>
        </p:nvSpPr>
        <p:spPr>
          <a:xfrm>
            <a:off x="0" y="91440"/>
            <a:ext cx="12192000" cy="223138"/>
          </a:xfrm>
          <a:prstGeom prst="rect">
            <a:avLst/>
          </a:prstGeom>
          <a:noFill/>
        </p:spPr>
        <p:txBody>
          <a:bodyPr vert="horz" rIns="91440" rtlCol="0">
            <a:spAutoFit/>
          </a:bodyPr>
          <a:lstStyle/>
          <a:p>
            <a:pPr algn="r"/>
            <a:r>
              <a:rPr lang="en-GB" sz="850" b="0" i="0" u="none" strike="noStrike" baseline="0">
                <a:solidFill>
                  <a:srgbClr val="235C24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WTO - Internal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hrSlideMaster.Vertical Title and TextHeader" descr="WTO - Internal">
            <a:extLst>
              <a:ext uri="{FF2B5EF4-FFF2-40B4-BE49-F238E27FC236}">
                <a16:creationId xmlns:a16="http://schemas.microsoft.com/office/drawing/2014/main" id="{EBA71D58-358B-4BCD-9185-DA98B9783846}"/>
              </a:ext>
            </a:extLst>
          </p:cNvPr>
          <p:cNvSpPr txBox="1"/>
          <p:nvPr userDrawn="1"/>
        </p:nvSpPr>
        <p:spPr>
          <a:xfrm>
            <a:off x="0" y="91440"/>
            <a:ext cx="12192000" cy="223138"/>
          </a:xfrm>
          <a:prstGeom prst="rect">
            <a:avLst/>
          </a:prstGeom>
          <a:noFill/>
        </p:spPr>
        <p:txBody>
          <a:bodyPr vert="horz" rIns="91440" rtlCol="0">
            <a:spAutoFit/>
          </a:bodyPr>
          <a:lstStyle/>
          <a:p>
            <a:pPr algn="r"/>
            <a:r>
              <a:rPr lang="en-GB" sz="850" b="0" i="0" u="none" strike="noStrike" baseline="0">
                <a:solidFill>
                  <a:srgbClr val="235C24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WTO - Internal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36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234440"/>
            <a:ext cx="10332720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1200" b="1">
                <a:solidFill>
                  <a:srgbClr val="CDE2FB"/>
                </a:solidFill>
                <a:latin typeface="Segoe UI"/>
              </a:rPr>
              <a:t>SOUTENANCE DE STAGE DE FIN D'ÉTUDES — INSA HAUTS-DE-FRANCE · 5A ICY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Segoe UI"/>
              </a:rPr>
              <a:t>Une plateforme de Business Intelligence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4000" b="1">
                <a:solidFill>
                  <a:srgbClr val="CDE2FB"/>
                </a:solidFill>
                <a:latin typeface="Segoe UI"/>
              </a:rPr>
              <a:t>pilotée par l'intelligence artificielle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DE2FB"/>
                </a:solidFill>
                <a:latin typeface="Segoe UI"/>
              </a:rPr>
              <a:t>Conception et développement de bout en bout — Bahgat IT Expert, Dubaï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4709160"/>
            <a:ext cx="10332720" cy="1234440"/>
          </a:xfrm>
          <a:prstGeom prst="roundRect">
            <a:avLst>
              <a:gd name="adj" fmla="val 5500"/>
            </a:avLst>
          </a:prstGeom>
          <a:solidFill>
            <a:srgbClr val="1042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BEN SAID Nassim  ·  1er avril – 30 septembre 2026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CDE2FB"/>
                </a:solidFill>
                <a:latin typeface="Segoe UI"/>
              </a:rPr>
              <a:t>Tuteur école : [Nom]  ·  Tuteur entreprise : [Nom]  —  Bahgat IT Expert, Consulting &amp; Arbitration, Dubaï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2A78D6"/>
                </a:solidFill>
                <a:latin typeface="Segoe UI"/>
              </a:rPr>
              <a:t>PLAN DE LA PRÉSENTATION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B0B0B"/>
                </a:solidFill>
                <a:latin typeface="Segoe UI"/>
              </a:rPr>
              <a:t>Sommaire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828800"/>
            <a:ext cx="3566160" cy="1920240"/>
          </a:xfrm>
          <a:prstGeom prst="roundRect">
            <a:avLst>
              <a:gd name="adj" fmla="val 55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77240" y="2057400"/>
            <a:ext cx="475488" cy="475488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31089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 dirty="0" err="1">
                <a:solidFill>
                  <a:srgbClr val="0B0B0B"/>
                </a:solidFill>
                <a:latin typeface="Segoe UI"/>
              </a:rPr>
              <a:t>Contexte</a:t>
            </a:r>
            <a:r>
              <a:rPr sz="1500" b="1" dirty="0">
                <a:solidFill>
                  <a:srgbClr val="0B0B0B"/>
                </a:solidFill>
                <a:latin typeface="Segoe UI"/>
              </a:rPr>
              <a:t> &amp; </a:t>
            </a:r>
            <a:r>
              <a:rPr sz="1500" b="1" dirty="0" err="1">
                <a:solidFill>
                  <a:srgbClr val="0B0B0B"/>
                </a:solidFill>
                <a:latin typeface="Segoe UI"/>
              </a:rPr>
              <a:t>entreprise</a:t>
            </a:r>
            <a:endParaRPr sz="1500" b="1" dirty="0">
              <a:solidFill>
                <a:srgbClr val="0B0B0B"/>
              </a:solidFill>
              <a:latin typeface="Segoe UI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rgbClr val="52514E"/>
                </a:solidFill>
                <a:latin typeface="Segoe UI"/>
              </a:rPr>
              <a:t>Bahgat IT Expert et la practice Data / BI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34255" y="1828800"/>
            <a:ext cx="3566160" cy="1920240"/>
          </a:xfrm>
          <a:prstGeom prst="roundRect">
            <a:avLst>
              <a:gd name="adj" fmla="val 55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4562855" y="2057400"/>
            <a:ext cx="475488" cy="475488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62855" y="2697480"/>
            <a:ext cx="31089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 dirty="0" err="1">
                <a:solidFill>
                  <a:srgbClr val="0B0B0B"/>
                </a:solidFill>
                <a:latin typeface="Segoe UI"/>
              </a:rPr>
              <a:t>Objectifs</a:t>
            </a:r>
            <a:r>
              <a:rPr sz="1500" b="1" dirty="0">
                <a:solidFill>
                  <a:srgbClr val="0B0B0B"/>
                </a:solidFill>
                <a:latin typeface="Segoe UI"/>
              </a:rPr>
              <a:t> &amp; démarche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rgbClr val="52514E"/>
                </a:solidFill>
                <a:latin typeface="Segoe UI"/>
              </a:rPr>
              <a:t>cahier des charges, </a:t>
            </a:r>
            <a:r>
              <a:rPr sz="1100" b="0" dirty="0" err="1">
                <a:solidFill>
                  <a:srgbClr val="52514E"/>
                </a:solidFill>
                <a:latin typeface="Segoe UI"/>
              </a:rPr>
              <a:t>confidentialité</a:t>
            </a:r>
            <a:r>
              <a:rPr sz="1100" b="0" dirty="0">
                <a:solidFill>
                  <a:srgbClr val="52514E"/>
                </a:solidFill>
                <a:latin typeface="Segoe UI"/>
              </a:rPr>
              <a:t>, planning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1" y="1828800"/>
            <a:ext cx="3566160" cy="1920240"/>
          </a:xfrm>
          <a:prstGeom prst="roundRect">
            <a:avLst>
              <a:gd name="adj" fmla="val 55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348471" y="2057400"/>
            <a:ext cx="475488" cy="475488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8471" y="2697480"/>
            <a:ext cx="31089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 dirty="0">
                <a:solidFill>
                  <a:srgbClr val="0B0B0B"/>
                </a:solidFill>
                <a:latin typeface="Segoe UI"/>
              </a:rPr>
              <a:t>Architecture &amp; données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rgbClr val="52514E"/>
                </a:solidFill>
                <a:latin typeface="Segoe UI"/>
              </a:rPr>
              <a:t>pipeline, entrepôt, jeu de données </a:t>
            </a:r>
            <a:r>
              <a:rPr sz="1100" b="0" dirty="0" err="1">
                <a:solidFill>
                  <a:srgbClr val="52514E"/>
                </a:solidFill>
                <a:latin typeface="Segoe UI"/>
              </a:rPr>
              <a:t>synthétique</a:t>
            </a:r>
            <a:endParaRPr sz="1100" b="0" dirty="0">
              <a:solidFill>
                <a:srgbClr val="52514E"/>
              </a:solidFill>
              <a:latin typeface="Segoe U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48640" y="3977639"/>
            <a:ext cx="3566160" cy="1920240"/>
          </a:xfrm>
          <a:prstGeom prst="roundRect">
            <a:avLst>
              <a:gd name="adj" fmla="val 55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77240" y="4206240"/>
            <a:ext cx="475488" cy="475488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846320"/>
            <a:ext cx="31089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0B0B0B"/>
                </a:solidFill>
                <a:latin typeface="Segoe UI"/>
              </a:rPr>
              <a:t>Machine learning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2514E"/>
                </a:solidFill>
                <a:latin typeface="Segoe UI"/>
              </a:rPr>
              <a:t>prévision, anomalies, segmentation — évalués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34255" y="3977639"/>
            <a:ext cx="3566160" cy="1920240"/>
          </a:xfrm>
          <a:prstGeom prst="roundRect">
            <a:avLst>
              <a:gd name="adj" fmla="val 55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562855" y="4206240"/>
            <a:ext cx="475488" cy="475488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2855" y="4846320"/>
            <a:ext cx="31089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0B0B0B"/>
                </a:solidFill>
                <a:latin typeface="Segoe UI"/>
              </a:rPr>
              <a:t>Restitution &amp; démo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2514E"/>
                </a:solidFill>
                <a:latin typeface="Segoe UI"/>
              </a:rPr>
              <a:t>application web Flask et rapport Power BI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1" y="3977639"/>
            <a:ext cx="3566160" cy="1920240"/>
          </a:xfrm>
          <a:prstGeom prst="roundRect">
            <a:avLst>
              <a:gd name="adj" fmla="val 55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348471" y="4206240"/>
            <a:ext cx="475488" cy="475488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8471" y="4846320"/>
            <a:ext cx="31089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0B0B0B"/>
                </a:solidFill>
                <a:latin typeface="Segoe UI"/>
              </a:rPr>
              <a:t>Bilan &amp; perspectives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2514E"/>
                </a:solidFill>
                <a:latin typeface="Segoe UI"/>
              </a:rPr>
              <a:t>résultats, enseignements, feuille de route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98781"/>
                </a:solidFill>
                <a:latin typeface="Segoe UI"/>
              </a:rPr>
              <a:t>Soutenance PFE · Bahgat Insight Platform ·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2A78D6"/>
                </a:solidFill>
                <a:latin typeface="Segoe UI"/>
              </a:rPr>
              <a:t>1 · CONTEXTE &amp; ENTREPRISE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B0B0B"/>
                </a:solidFill>
                <a:latin typeface="Segoe UI"/>
              </a:rPr>
              <a:t>Bahgat IT Expert — conseil &amp; arbitrage IT, Dubaï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5971032" cy="26930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200"/>
              </a:spcAft>
            </a:pPr>
            <a:r>
              <a:rPr sz="1350" b="1" dirty="0">
                <a:solidFill>
                  <a:srgbClr val="2A78D6"/>
                </a:solidFill>
                <a:latin typeface="Segoe UI"/>
              </a:rPr>
              <a:t>•  </a:t>
            </a:r>
            <a:r>
              <a:rPr sz="1350" b="1" dirty="0">
                <a:solidFill>
                  <a:srgbClr val="0B0B0B"/>
                </a:solidFill>
                <a:latin typeface="Segoe UI"/>
              </a:rPr>
              <a:t>Cabinet </a:t>
            </a:r>
            <a:r>
              <a:rPr sz="1350" b="1" dirty="0" err="1">
                <a:solidFill>
                  <a:srgbClr val="0B0B0B"/>
                </a:solidFill>
                <a:latin typeface="Segoe UI"/>
              </a:rPr>
              <a:t>pluridisciplinaire</a:t>
            </a:r>
            <a:r>
              <a:rPr sz="1350" b="1" dirty="0">
                <a:solidFill>
                  <a:srgbClr val="0B0B0B"/>
                </a:solidFill>
                <a:latin typeface="Segoe UI"/>
              </a:rPr>
              <a:t> — </a:t>
            </a:r>
            <a:r>
              <a:rPr sz="1350" dirty="0">
                <a:solidFill>
                  <a:srgbClr val="52514E"/>
                </a:solidFill>
                <a:latin typeface="Segoe UI"/>
              </a:rPr>
              <a:t>investigation numérique, </a:t>
            </a:r>
            <a:r>
              <a:rPr sz="1350" dirty="0" err="1">
                <a:solidFill>
                  <a:srgbClr val="52514E"/>
                </a:solidFill>
                <a:latin typeface="Segoe UI"/>
              </a:rPr>
              <a:t>cybersécurité</a:t>
            </a:r>
            <a:r>
              <a:rPr sz="1350" dirty="0">
                <a:solidFill>
                  <a:srgbClr val="52514E"/>
                </a:solidFill>
                <a:latin typeface="Segoe UI"/>
              </a:rPr>
              <a:t>, infrastructure, arbitrage et expertise </a:t>
            </a:r>
            <a:r>
              <a:rPr sz="1350" dirty="0" err="1">
                <a:solidFill>
                  <a:srgbClr val="52514E"/>
                </a:solidFill>
                <a:latin typeface="Segoe UI"/>
              </a:rPr>
              <a:t>judiciaire</a:t>
            </a:r>
            <a:endParaRPr sz="1350" dirty="0">
              <a:solidFill>
                <a:srgbClr val="52514E"/>
              </a:solidFill>
              <a:latin typeface="Segoe UI"/>
            </a:endParaRPr>
          </a:p>
          <a:p>
            <a:pPr>
              <a:spcAft>
                <a:spcPts val="1200"/>
              </a:spcAft>
            </a:pPr>
            <a:r>
              <a:rPr sz="1350" b="1" dirty="0">
                <a:solidFill>
                  <a:srgbClr val="2A78D6"/>
                </a:solidFill>
                <a:latin typeface="Segoe UI"/>
              </a:rPr>
              <a:t>•  </a:t>
            </a:r>
            <a:r>
              <a:rPr sz="1350" b="1" dirty="0" err="1">
                <a:solidFill>
                  <a:srgbClr val="0B0B0B"/>
                </a:solidFill>
                <a:latin typeface="Segoe UI"/>
              </a:rPr>
              <a:t>Certifié</a:t>
            </a:r>
            <a:r>
              <a:rPr sz="1350" b="1" dirty="0">
                <a:solidFill>
                  <a:srgbClr val="0B0B0B"/>
                </a:solidFill>
                <a:latin typeface="Segoe UI"/>
              </a:rPr>
              <a:t> — </a:t>
            </a:r>
            <a:r>
              <a:rPr sz="1350" dirty="0">
                <a:solidFill>
                  <a:srgbClr val="52514E"/>
                </a:solidFill>
                <a:latin typeface="Segoe UI"/>
              </a:rPr>
              <a:t>Ministère de la Justice des </a:t>
            </a:r>
            <a:r>
              <a:rPr sz="1350" dirty="0" err="1">
                <a:solidFill>
                  <a:srgbClr val="52514E"/>
                </a:solidFill>
                <a:latin typeface="Segoe UI"/>
              </a:rPr>
              <a:t>Émirats</a:t>
            </a:r>
            <a:r>
              <a:rPr sz="1350" dirty="0">
                <a:solidFill>
                  <a:srgbClr val="52514E"/>
                </a:solidFill>
                <a:latin typeface="Segoe UI"/>
              </a:rPr>
              <a:t> et </a:t>
            </a:r>
            <a:r>
              <a:rPr sz="1350" dirty="0" err="1">
                <a:solidFill>
                  <a:srgbClr val="52514E"/>
                </a:solidFill>
                <a:latin typeface="Segoe UI"/>
              </a:rPr>
              <a:t>cours</a:t>
            </a:r>
            <a:r>
              <a:rPr sz="1350" dirty="0">
                <a:solidFill>
                  <a:srgbClr val="52514E"/>
                </a:solidFill>
                <a:latin typeface="Segoe UI"/>
              </a:rPr>
              <a:t> </a:t>
            </a:r>
            <a:r>
              <a:rPr sz="1350" dirty="0" err="1">
                <a:solidFill>
                  <a:srgbClr val="52514E"/>
                </a:solidFill>
                <a:latin typeface="Segoe UI"/>
              </a:rPr>
              <a:t>fédérales</a:t>
            </a:r>
            <a:r>
              <a:rPr sz="1350" dirty="0">
                <a:solidFill>
                  <a:srgbClr val="52514E"/>
                </a:solidFill>
                <a:latin typeface="Segoe UI"/>
              </a:rPr>
              <a:t> — plus de 30 </a:t>
            </a:r>
            <a:r>
              <a:rPr sz="1350" dirty="0" err="1">
                <a:solidFill>
                  <a:srgbClr val="52514E"/>
                </a:solidFill>
                <a:latin typeface="Segoe UI"/>
              </a:rPr>
              <a:t>ans</a:t>
            </a:r>
            <a:r>
              <a:rPr sz="1350" dirty="0">
                <a:solidFill>
                  <a:srgbClr val="52514E"/>
                </a:solidFill>
                <a:latin typeface="Segoe UI"/>
              </a:rPr>
              <a:t> </a:t>
            </a:r>
            <a:r>
              <a:rPr sz="1350" dirty="0" err="1">
                <a:solidFill>
                  <a:srgbClr val="52514E"/>
                </a:solidFill>
                <a:latin typeface="Segoe UI"/>
              </a:rPr>
              <a:t>d'expérience</a:t>
            </a:r>
            <a:endParaRPr sz="1350" dirty="0">
              <a:solidFill>
                <a:srgbClr val="52514E"/>
              </a:solidFill>
              <a:latin typeface="Segoe UI"/>
            </a:endParaRPr>
          </a:p>
          <a:p>
            <a:pPr>
              <a:spcAft>
                <a:spcPts val="1200"/>
              </a:spcAft>
            </a:pPr>
            <a:r>
              <a:rPr sz="1350" b="1" dirty="0">
                <a:solidFill>
                  <a:srgbClr val="2A78D6"/>
                </a:solidFill>
                <a:latin typeface="Segoe UI"/>
              </a:rPr>
              <a:t>•  </a:t>
            </a:r>
            <a:r>
              <a:rPr sz="1350" b="1" dirty="0">
                <a:solidFill>
                  <a:srgbClr val="0B0B0B"/>
                </a:solidFill>
                <a:latin typeface="Segoe UI"/>
              </a:rPr>
              <a:t>Practice Data &amp; Business Intelligence — </a:t>
            </a:r>
            <a:r>
              <a:rPr sz="1350" dirty="0">
                <a:solidFill>
                  <a:srgbClr val="52514E"/>
                </a:solidFill>
                <a:latin typeface="Segoe UI"/>
              </a:rPr>
              <a:t>tableaux de bord </a:t>
            </a:r>
            <a:r>
              <a:rPr sz="1350" dirty="0" err="1">
                <a:solidFill>
                  <a:srgbClr val="52514E"/>
                </a:solidFill>
                <a:latin typeface="Segoe UI"/>
              </a:rPr>
              <a:t>décisionnels</a:t>
            </a:r>
            <a:r>
              <a:rPr sz="1350" dirty="0">
                <a:solidFill>
                  <a:srgbClr val="52514E"/>
                </a:solidFill>
                <a:latin typeface="Segoe UI"/>
              </a:rPr>
              <a:t> et </a:t>
            </a:r>
            <a:r>
              <a:rPr sz="1350" dirty="0" err="1">
                <a:solidFill>
                  <a:srgbClr val="52514E"/>
                </a:solidFill>
                <a:latin typeface="Segoe UI"/>
              </a:rPr>
              <a:t>accompagnement</a:t>
            </a:r>
            <a:r>
              <a:rPr sz="1350" dirty="0">
                <a:solidFill>
                  <a:srgbClr val="52514E"/>
                </a:solidFill>
                <a:latin typeface="Segoe UI"/>
              </a:rPr>
              <a:t> IA pour les clients du cabinet</a:t>
            </a:r>
          </a:p>
          <a:p>
            <a:pPr>
              <a:spcAft>
                <a:spcPts val="1200"/>
              </a:spcAft>
            </a:pPr>
            <a:r>
              <a:rPr sz="1350" b="1" dirty="0">
                <a:solidFill>
                  <a:srgbClr val="2A78D6"/>
                </a:solidFill>
                <a:latin typeface="Segoe UI"/>
              </a:rPr>
              <a:t>•  </a:t>
            </a:r>
            <a:r>
              <a:rPr sz="1350" b="1" dirty="0">
                <a:solidFill>
                  <a:srgbClr val="0B0B0B"/>
                </a:solidFill>
                <a:latin typeface="Segoe UI"/>
              </a:rPr>
              <a:t>Mon </a:t>
            </a:r>
            <a:r>
              <a:rPr sz="1350" b="1" dirty="0" err="1">
                <a:solidFill>
                  <a:srgbClr val="0B0B0B"/>
                </a:solidFill>
                <a:latin typeface="Segoe UI"/>
              </a:rPr>
              <a:t>positionnement</a:t>
            </a:r>
            <a:r>
              <a:rPr sz="1350" b="1" dirty="0">
                <a:solidFill>
                  <a:srgbClr val="0B0B0B"/>
                </a:solidFill>
                <a:latin typeface="Segoe UI"/>
              </a:rPr>
              <a:t> — </a:t>
            </a:r>
            <a:r>
              <a:rPr sz="1350" dirty="0">
                <a:solidFill>
                  <a:srgbClr val="52514E"/>
                </a:solidFill>
                <a:latin typeface="Segoe UI"/>
              </a:rPr>
              <a:t>stagiaire </a:t>
            </a:r>
            <a:r>
              <a:rPr sz="1350" dirty="0" err="1">
                <a:solidFill>
                  <a:srgbClr val="52514E"/>
                </a:solidFill>
                <a:latin typeface="Segoe UI"/>
              </a:rPr>
              <a:t>ingénieur</a:t>
            </a:r>
            <a:r>
              <a:rPr sz="1350" dirty="0">
                <a:solidFill>
                  <a:srgbClr val="52514E"/>
                </a:solidFill>
                <a:latin typeface="Segoe UI"/>
              </a:rPr>
              <a:t> au sein de la practice Data &amp; BI, sous la </a:t>
            </a:r>
            <a:r>
              <a:rPr sz="1350" dirty="0" err="1">
                <a:solidFill>
                  <a:srgbClr val="52514E"/>
                </a:solidFill>
                <a:latin typeface="Segoe UI"/>
              </a:rPr>
              <a:t>responsabilité</a:t>
            </a:r>
            <a:r>
              <a:rPr sz="1350" dirty="0">
                <a:solidFill>
                  <a:srgbClr val="52514E"/>
                </a:solidFill>
                <a:latin typeface="Segoe UI"/>
              </a:rPr>
              <a:t> d'un consultant senior</a:t>
            </a:r>
          </a:p>
          <a:p>
            <a:pPr>
              <a:spcAft>
                <a:spcPts val="1200"/>
              </a:spcAft>
            </a:pPr>
            <a:r>
              <a:rPr sz="1350" b="1" dirty="0">
                <a:solidFill>
                  <a:srgbClr val="2A78D6"/>
                </a:solidFill>
                <a:latin typeface="Segoe UI"/>
              </a:rPr>
              <a:t>•  </a:t>
            </a:r>
            <a:r>
              <a:rPr sz="1350" b="1" dirty="0">
                <a:solidFill>
                  <a:srgbClr val="0B0B0B"/>
                </a:solidFill>
                <a:latin typeface="Segoe UI"/>
              </a:rPr>
              <a:t>Ambition du cabinet — </a:t>
            </a:r>
            <a:r>
              <a:rPr sz="1350" dirty="0">
                <a:solidFill>
                  <a:srgbClr val="52514E"/>
                </a:solidFill>
                <a:latin typeface="Segoe UI"/>
              </a:rPr>
              <a:t>industrialiser </a:t>
            </a:r>
            <a:r>
              <a:rPr sz="1350" dirty="0" err="1">
                <a:solidFill>
                  <a:srgbClr val="52514E"/>
                </a:solidFill>
                <a:latin typeface="Segoe UI"/>
              </a:rPr>
              <a:t>l'offre</a:t>
            </a:r>
            <a:r>
              <a:rPr sz="1350" dirty="0">
                <a:solidFill>
                  <a:srgbClr val="52514E"/>
                </a:solidFill>
                <a:latin typeface="Segoe UI"/>
              </a:rPr>
              <a:t> BI : </a:t>
            </a:r>
            <a:r>
              <a:rPr sz="1350" dirty="0" err="1">
                <a:solidFill>
                  <a:srgbClr val="52514E"/>
                </a:solidFill>
                <a:latin typeface="Segoe UI"/>
              </a:rPr>
              <a:t>une</a:t>
            </a:r>
            <a:r>
              <a:rPr sz="1350" dirty="0">
                <a:solidFill>
                  <a:srgbClr val="52514E"/>
                </a:solidFill>
                <a:latin typeface="Segoe UI"/>
              </a:rPr>
              <a:t> </a:t>
            </a:r>
            <a:r>
              <a:rPr sz="1350" dirty="0" err="1">
                <a:solidFill>
                  <a:srgbClr val="52514E"/>
                </a:solidFill>
                <a:latin typeface="Segoe UI"/>
              </a:rPr>
              <a:t>plateforme</a:t>
            </a:r>
            <a:r>
              <a:rPr sz="1350" dirty="0">
                <a:solidFill>
                  <a:srgbClr val="52514E"/>
                </a:solidFill>
                <a:latin typeface="Segoe UI"/>
              </a:rPr>
              <a:t> de </a:t>
            </a:r>
            <a:r>
              <a:rPr sz="1350" dirty="0" err="1">
                <a:solidFill>
                  <a:srgbClr val="52514E"/>
                </a:solidFill>
                <a:latin typeface="Segoe UI"/>
              </a:rPr>
              <a:t>référence</a:t>
            </a:r>
            <a:r>
              <a:rPr sz="1350" dirty="0">
                <a:solidFill>
                  <a:srgbClr val="52514E"/>
                </a:solidFill>
                <a:latin typeface="Segoe UI"/>
              </a:rPr>
              <a:t> </a:t>
            </a:r>
            <a:r>
              <a:rPr sz="1350" dirty="0" err="1">
                <a:solidFill>
                  <a:srgbClr val="52514E"/>
                </a:solidFill>
                <a:latin typeface="Segoe UI"/>
              </a:rPr>
              <a:t>réutilisable</a:t>
            </a:r>
            <a:r>
              <a:rPr sz="1350" dirty="0">
                <a:solidFill>
                  <a:srgbClr val="52514E"/>
                </a:solidFill>
                <a:latin typeface="Segoe UI"/>
              </a:rPr>
              <a:t>, </a:t>
            </a:r>
            <a:r>
              <a:rPr sz="1350" dirty="0" err="1">
                <a:solidFill>
                  <a:srgbClr val="52514E"/>
                </a:solidFill>
                <a:latin typeface="Segoe UI"/>
              </a:rPr>
              <a:t>plutôt</a:t>
            </a:r>
            <a:r>
              <a:rPr sz="1350" dirty="0">
                <a:solidFill>
                  <a:srgbClr val="52514E"/>
                </a:solidFill>
                <a:latin typeface="Segoe UI"/>
              </a:rPr>
              <a:t> </a:t>
            </a:r>
            <a:r>
              <a:rPr sz="1350" dirty="0" err="1">
                <a:solidFill>
                  <a:srgbClr val="52514E"/>
                </a:solidFill>
                <a:latin typeface="Segoe UI"/>
              </a:rPr>
              <a:t>que</a:t>
            </a:r>
            <a:r>
              <a:rPr sz="1350" dirty="0">
                <a:solidFill>
                  <a:srgbClr val="52514E"/>
                </a:solidFill>
                <a:latin typeface="Segoe UI"/>
              </a:rPr>
              <a:t> des tableaux de bord ad hoc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0" y="1783080"/>
            <a:ext cx="2331720" cy="1234440"/>
          </a:xfrm>
          <a:prstGeom prst="roundRect">
            <a:avLst>
              <a:gd name="adj" fmla="val 55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296912" y="1911095"/>
            <a:ext cx="2002536" cy="9784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2A78D6"/>
                </a:solidFill>
                <a:latin typeface="Segoe UI"/>
              </a:rPr>
              <a:t>30+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2514E"/>
                </a:solidFill>
                <a:latin typeface="Segoe UI"/>
              </a:rPr>
              <a:t>années d'expérience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46920" y="1783080"/>
            <a:ext cx="2331720" cy="1234440"/>
          </a:xfrm>
          <a:prstGeom prst="roundRect">
            <a:avLst>
              <a:gd name="adj" fmla="val 55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11512" y="1911095"/>
            <a:ext cx="2002536" cy="9784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2A78D6"/>
                </a:solidFill>
                <a:latin typeface="Segoe UI"/>
              </a:rPr>
              <a:t>4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2514E"/>
                </a:solidFill>
                <a:latin typeface="Segoe UI"/>
              </a:rPr>
              <a:t>pays d'implantation
(EAU, KSA, Bahreïn, Canada)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3200400"/>
            <a:ext cx="2331720" cy="1234440"/>
          </a:xfrm>
          <a:prstGeom prst="roundRect">
            <a:avLst>
              <a:gd name="adj" fmla="val 55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96912" y="3328416"/>
            <a:ext cx="2002536" cy="9784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2A78D6"/>
                </a:solidFill>
                <a:latin typeface="Segoe UI"/>
              </a:rPr>
              <a:t>6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2514E"/>
                </a:solidFill>
                <a:latin typeface="Segoe UI"/>
              </a:rPr>
              <a:t>pôles d'expertise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46920" y="3200400"/>
            <a:ext cx="2331720" cy="1234440"/>
          </a:xfrm>
          <a:prstGeom prst="roundRect">
            <a:avLst>
              <a:gd name="adj" fmla="val 55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811512" y="3328416"/>
            <a:ext cx="2002536" cy="9784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2A78D6"/>
                </a:solidFill>
                <a:latin typeface="Segoe UI"/>
              </a:rPr>
              <a:t>8+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2514E"/>
                </a:solidFill>
                <a:latin typeface="Segoe UI"/>
              </a:rPr>
              <a:t>secteurs clients
(retail, finance, oil &amp; gas…)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4617720"/>
            <a:ext cx="4846320" cy="1371600"/>
          </a:xfrm>
          <a:prstGeom prst="roundRect">
            <a:avLst>
              <a:gd name="adj" fmla="val 5500"/>
            </a:avLst>
          </a:prstGeom>
          <a:solidFill>
            <a:srgbClr val="F0EFEC"/>
          </a:solidFill>
          <a:ln w="12700">
            <a:solidFill>
              <a:srgbClr val="89878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2514E"/>
                </a:solidFill>
                <a:latin typeface="Segoe UI"/>
              </a:rPr>
              <a:t>CAPTURE À INSÉRER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98781"/>
                </a:solidFill>
                <a:latin typeface="Segoe UI"/>
              </a:rPr>
              <a:t>logo / photo des locaux ou organigramme simplifié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98781"/>
                </a:solidFill>
                <a:latin typeface="Segoe UI"/>
              </a:rPr>
              <a:t>Soutenance PFE · Bahgat Insight Platform ·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2A78D6"/>
                </a:solidFill>
                <a:latin typeface="Segoe UI"/>
              </a:rPr>
              <a:t>1 · CONTEXTE &amp; ENTREPRISE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B0B0B"/>
                </a:solidFill>
                <a:latin typeface="Segoe UI"/>
              </a:rPr>
              <a:t>La problématique récurrente des clients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83080"/>
            <a:ext cx="5486400" cy="1481328"/>
          </a:xfrm>
          <a:prstGeom prst="roundRect">
            <a:avLst>
              <a:gd name="adj" fmla="val 55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04672" y="2286000"/>
            <a:ext cx="457200" cy="45720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2039112"/>
            <a:ext cx="43434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0B0B0B"/>
                </a:solidFill>
                <a:latin typeface="Segoe UI"/>
              </a:rPr>
              <a:t>Données en silos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2514E"/>
                </a:solidFill>
                <a:latin typeface="Segoe UI"/>
              </a:rPr>
              <a:t>POS, CRM, ERP, marketing, web analytics : aucune vue consolidée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783080"/>
            <a:ext cx="5486400" cy="1481328"/>
          </a:xfrm>
          <a:prstGeom prst="roundRect">
            <a:avLst>
              <a:gd name="adj" fmla="val 55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519672" y="2286000"/>
            <a:ext cx="457200" cy="457200"/>
          </a:xfrm>
          <a:prstGeom prst="ellipse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59" y="2039112"/>
            <a:ext cx="43434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0B0B0B"/>
                </a:solidFill>
                <a:latin typeface="Segoe UI"/>
              </a:rPr>
              <a:t>Reporting manuel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2514E"/>
                </a:solidFill>
                <a:latin typeface="Segoe UI"/>
              </a:rPr>
              <a:t>extractions tableur mensuelles, lentes et sujettes aux erreurs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474720"/>
            <a:ext cx="5486400" cy="1481328"/>
          </a:xfrm>
          <a:prstGeom prst="roundRect">
            <a:avLst>
              <a:gd name="adj" fmla="val 55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04672" y="3977639"/>
            <a:ext cx="457200" cy="457200"/>
          </a:xfrm>
          <a:prstGeom prst="ellipse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30752"/>
            <a:ext cx="43434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0B0B0B"/>
                </a:solidFill>
                <a:latin typeface="Segoe UI"/>
              </a:rPr>
              <a:t>Aucune vision prédictive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2514E"/>
                </a:solidFill>
                <a:latin typeface="Segoe UI"/>
              </a:rPr>
              <a:t>pas de prévision structurée pour les achats ou la planification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3474720"/>
            <a:ext cx="5486400" cy="1481328"/>
          </a:xfrm>
          <a:prstGeom prst="roundRect">
            <a:avLst>
              <a:gd name="adj" fmla="val 55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519672" y="3977639"/>
            <a:ext cx="457200" cy="457200"/>
          </a:xfrm>
          <a:prstGeom prst="ellipse">
            <a:avLst/>
          </a:prstGeom>
          <a:solidFill>
            <a:srgbClr val="E34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59" y="3730752"/>
            <a:ext cx="43434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0B0B0B"/>
                </a:solidFill>
                <a:latin typeface="Segoe UI"/>
              </a:rPr>
              <a:t>Incidents détectés tard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2514E"/>
                </a:solidFill>
                <a:latin typeface="Segoe UI"/>
              </a:rPr>
              <a:t>erreurs de prix, pannes, fraudes découvertes des semaines après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394960"/>
            <a:ext cx="11091672" cy="868680"/>
          </a:xfrm>
          <a:prstGeom prst="roundRect">
            <a:avLst>
              <a:gd name="adj" fmla="val 5500"/>
            </a:avLst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Segoe UI"/>
              </a:rPr>
              <a:t>Ma mission : concevoir une plateforme BI centralisée, automatisée et intelligente, démontrable aux clients du cabinet.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98781"/>
                </a:solidFill>
                <a:latin typeface="Segoe UI"/>
              </a:rPr>
              <a:t>Soutenance PFE · Bahgat Insight Platform ·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2A78D6"/>
                </a:solidFill>
                <a:latin typeface="Segoe UI"/>
              </a:rPr>
              <a:t>2 · OBJECTIFS &amp; DÉMARCHE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B0B0B"/>
                </a:solidFill>
                <a:latin typeface="Segoe UI"/>
              </a:rPr>
              <a:t>Six objectifs — et une contrainte transformée en atout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5852160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300" b="1">
                <a:solidFill>
                  <a:srgbClr val="2A78D6"/>
                </a:solidFill>
                <a:latin typeface="Segoe UI"/>
              </a:rPr>
              <a:t>•  </a:t>
            </a:r>
            <a:r>
              <a:rPr sz="1300" b="1">
                <a:solidFill>
                  <a:srgbClr val="0B0B0B"/>
                </a:solidFill>
                <a:latin typeface="Segoe UI"/>
              </a:rPr>
              <a:t>Collecter — </a:t>
            </a:r>
            <a:r>
              <a:rPr sz="1300">
                <a:solidFill>
                  <a:srgbClr val="52514E"/>
                </a:solidFill>
                <a:latin typeface="Segoe UI"/>
              </a:rPr>
              <a:t>des données multi-sources (ventes, retours, clients, marketing, web, stocks)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2A78D6"/>
                </a:solidFill>
                <a:latin typeface="Segoe UI"/>
              </a:rPr>
              <a:t>•  </a:t>
            </a:r>
            <a:r>
              <a:rPr sz="1300" b="1">
                <a:solidFill>
                  <a:srgbClr val="0B0B0B"/>
                </a:solidFill>
                <a:latin typeface="Segoe UI"/>
              </a:rPr>
              <a:t>Automatiser — </a:t>
            </a:r>
            <a:r>
              <a:rPr sz="1300">
                <a:solidFill>
                  <a:srgbClr val="52514E"/>
                </a:solidFill>
                <a:latin typeface="Segoe UI"/>
              </a:rPr>
              <a:t>des pipelines d'intégration et de fiabilisation, avec audit complet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2A78D6"/>
                </a:solidFill>
                <a:latin typeface="Segoe UI"/>
              </a:rPr>
              <a:t>•  </a:t>
            </a:r>
            <a:r>
              <a:rPr sz="1300" b="1">
                <a:solidFill>
                  <a:srgbClr val="0B0B0B"/>
                </a:solidFill>
                <a:latin typeface="Segoe UI"/>
              </a:rPr>
              <a:t>Structurer — </a:t>
            </a:r>
            <a:r>
              <a:rPr sz="1300">
                <a:solidFill>
                  <a:srgbClr val="52514E"/>
                </a:solidFill>
                <a:latin typeface="Segoe UI"/>
              </a:rPr>
              <a:t>un entrepôt de données performant (schéma en étoile)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2A78D6"/>
                </a:solidFill>
                <a:latin typeface="Segoe UI"/>
              </a:rPr>
              <a:t>•  </a:t>
            </a:r>
            <a:r>
              <a:rPr sz="1300" b="1">
                <a:solidFill>
                  <a:srgbClr val="0B0B0B"/>
                </a:solidFill>
                <a:latin typeface="Segoe UI"/>
              </a:rPr>
              <a:t>Prédire — </a:t>
            </a:r>
            <a:r>
              <a:rPr sz="1300">
                <a:solidFill>
                  <a:srgbClr val="52514E"/>
                </a:solidFill>
                <a:latin typeface="Segoe UI"/>
              </a:rPr>
              <a:t>chiffre d'affaires à 90 jours, anomalies, segments clients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2A78D6"/>
                </a:solidFill>
                <a:latin typeface="Segoe UI"/>
              </a:rPr>
              <a:t>•  </a:t>
            </a:r>
            <a:r>
              <a:rPr sz="1300" b="1">
                <a:solidFill>
                  <a:srgbClr val="0B0B0B"/>
                </a:solidFill>
                <a:latin typeface="Segoe UI"/>
              </a:rPr>
              <a:t>Restituer — </a:t>
            </a:r>
            <a:r>
              <a:rPr sz="1300">
                <a:solidFill>
                  <a:srgbClr val="52514E"/>
                </a:solidFill>
                <a:latin typeface="Segoe UI"/>
              </a:rPr>
              <a:t>une application web moderne + un rapport Power BI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2A78D6"/>
                </a:solidFill>
                <a:latin typeface="Segoe UI"/>
              </a:rPr>
              <a:t>•  </a:t>
            </a:r>
            <a:r>
              <a:rPr sz="1300" b="1">
                <a:solidFill>
                  <a:srgbClr val="0B0B0B"/>
                </a:solidFill>
                <a:latin typeface="Segoe UI"/>
              </a:rPr>
              <a:t>Documenter — </a:t>
            </a:r>
            <a:r>
              <a:rPr sz="1300">
                <a:solidFill>
                  <a:srgbClr val="52514E"/>
                </a:solidFill>
                <a:latin typeface="Segoe UI"/>
              </a:rPr>
              <a:t>pour le transfert aux consultants du cabinet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12280" y="1737360"/>
            <a:ext cx="4828032" cy="4434840"/>
          </a:xfrm>
          <a:prstGeom prst="roundRect">
            <a:avLst>
              <a:gd name="adj" fmla="val 55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086600" y="1965960"/>
            <a:ext cx="4279392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E34948"/>
                </a:solidFill>
                <a:latin typeface="Segoe UI"/>
              </a:rPr>
              <a:t>CONTRAINTE : CONFIDENTIALITÉ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250" b="0">
                <a:solidFill>
                  <a:srgbClr val="0B0B0B"/>
                </a:solidFill>
                <a:latin typeface="Segoe UI"/>
              </a:rPr>
              <a:t>Les données clients sont inutilisables pour une démo.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B0B0B"/>
                </a:solidFill>
                <a:latin typeface="Segoe UI"/>
              </a:rPr>
              <a:t>→  Jeu de données synthétique haute-fidélité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150" b="0">
                <a:solidFill>
                  <a:srgbClr val="52514E"/>
                </a:solidFill>
                <a:latin typeface="Segoe UI"/>
              </a:rPr>
              <a:t>3 ans d'activité d'un retailer omnicanal du Golfe, généré avec saisonnalités et tendances réalistes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B0B0B"/>
                </a:solidFill>
                <a:latin typeface="Segoe UI"/>
              </a:rPr>
              <a:t>→  Incidents et défauts injectés = vérité terrain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150" b="0">
                <a:solidFill>
                  <a:srgbClr val="52514E"/>
                </a:solidFill>
                <a:latin typeface="Segoe UI"/>
              </a:rPr>
              <a:t>pannes, bug de prix, fraude, doublons, formats cassés… à dates connues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C5CAB"/>
                </a:solidFill>
                <a:latin typeface="Segoe UI"/>
              </a:rPr>
              <a:t>→  Évaluation objective de chaque brique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2514E"/>
                </a:solidFill>
                <a:latin typeface="Segoe UI"/>
              </a:rPr>
              <a:t>« le détecteur a retrouvé 7 incidents sur 7 » vaut mieux que « ça a l'air correct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98781"/>
                </a:solidFill>
                <a:latin typeface="Segoe UI"/>
              </a:rPr>
              <a:t>Soutenance PFE · Bahgat Insight Platform ·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2A78D6"/>
                </a:solidFill>
                <a:latin typeface="Segoe UI"/>
              </a:rPr>
              <a:t>2 · OBJECTIFS &amp; DÉMARCHE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B0B0B"/>
                </a:solidFill>
                <a:latin typeface="Segoe UI"/>
              </a:rPr>
              <a:t>Six mois, cinq phases, des démos à chaque jalon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0" y="17373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898781"/>
                </a:solidFill>
                <a:latin typeface="Segoe UI"/>
              </a:rPr>
              <a:t>Avril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17373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898781"/>
                </a:solidFill>
                <a:latin typeface="Segoe UI"/>
              </a:rPr>
              <a:t>Mai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0" y="17373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898781"/>
                </a:solidFill>
                <a:latin typeface="Segoe UI"/>
              </a:rPr>
              <a:t>Juin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06640" y="17373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898781"/>
                </a:solidFill>
                <a:latin typeface="Segoe UI"/>
              </a:rPr>
              <a:t>Juillet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0" y="17373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898781"/>
                </a:solidFill>
                <a:latin typeface="Segoe UI"/>
              </a:rPr>
              <a:t>Août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17373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898781"/>
                </a:solidFill>
                <a:latin typeface="Segoe UI"/>
              </a:rPr>
              <a:t>Septembre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12848"/>
            <a:ext cx="2651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B0B0B"/>
                </a:solidFill>
                <a:latin typeface="Segoe UI"/>
              </a:rPr>
              <a:t>Cadrage &amp; état de l'art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2167128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Diamond 10"/>
          <p:cNvSpPr/>
          <p:nvPr/>
        </p:nvSpPr>
        <p:spPr>
          <a:xfrm>
            <a:off x="4718303" y="2249424"/>
            <a:ext cx="219456" cy="219456"/>
          </a:xfrm>
          <a:prstGeom prst="diamond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2926080"/>
            <a:ext cx="2651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B0B0B"/>
                </a:solidFill>
                <a:latin typeface="Segoe UI"/>
              </a:rPr>
              <a:t>Données &amp; entrepôt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2880360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Diamond 13"/>
          <p:cNvSpPr/>
          <p:nvPr/>
        </p:nvSpPr>
        <p:spPr>
          <a:xfrm>
            <a:off x="6364224" y="2962656"/>
            <a:ext cx="219456" cy="219456"/>
          </a:xfrm>
          <a:prstGeom prst="diamond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3639312"/>
            <a:ext cx="2651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B0B0B"/>
                </a:solidFill>
                <a:latin typeface="Segoe UI"/>
              </a:rPr>
              <a:t>Machine learning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593592"/>
            <a:ext cx="2468879" cy="384048"/>
          </a:xfrm>
          <a:prstGeom prst="roundRect">
            <a:avLst>
              <a:gd name="adj" fmla="val 50000"/>
            </a:avLst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Diamond 16"/>
          <p:cNvSpPr/>
          <p:nvPr/>
        </p:nvSpPr>
        <p:spPr>
          <a:xfrm>
            <a:off x="8833104" y="3675888"/>
            <a:ext cx="219456" cy="219456"/>
          </a:xfrm>
          <a:prstGeom prst="diamond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4352544"/>
            <a:ext cx="2651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B0B0B"/>
                </a:solidFill>
                <a:latin typeface="Segoe UI"/>
              </a:rPr>
              <a:t>Restitution &amp; dashboards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18120" y="4306824"/>
            <a:ext cx="2606040" cy="384048"/>
          </a:xfrm>
          <a:prstGeom prst="roundRect">
            <a:avLst>
              <a:gd name="adj" fmla="val 50000"/>
            </a:avLst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Diamond 19"/>
          <p:cNvSpPr/>
          <p:nvPr/>
        </p:nvSpPr>
        <p:spPr>
          <a:xfrm>
            <a:off x="10479024" y="4389120"/>
            <a:ext cx="219456" cy="219456"/>
          </a:xfrm>
          <a:prstGeom prst="diamond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5065776"/>
            <a:ext cx="2651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B0B0B"/>
                </a:solidFill>
                <a:latin typeface="Segoe UI"/>
              </a:rPr>
              <a:t>Consolidation &amp; soutenance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149840" y="5020056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Diamond 22"/>
          <p:cNvSpPr/>
          <p:nvPr/>
        </p:nvSpPr>
        <p:spPr>
          <a:xfrm>
            <a:off x="11265408" y="5102352"/>
            <a:ext cx="237744" cy="237744"/>
          </a:xfrm>
          <a:prstGeom prst="diamond">
            <a:avLst/>
          </a:prstGeom>
          <a:solidFill>
            <a:srgbClr val="E34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548640" y="5943600"/>
            <a:ext cx="11091672" cy="685800"/>
          </a:xfrm>
          <a:prstGeom prst="roundRect">
            <a:avLst>
              <a:gd name="adj" fmla="val 55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2514E"/>
                </a:solidFill>
                <a:latin typeface="Segoe UI"/>
              </a:rPr>
              <a:t>Démarche itérative : point hebdomadaire avec le tuteur · ◆ démonstration de fin de phase · chevauchement ML / restitution assumé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98781"/>
                </a:solidFill>
                <a:latin typeface="Segoe UI"/>
              </a:rPr>
              <a:t>Soutenance PFE · Bahgat Insight Platform ·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 dirty="0">
                <a:solidFill>
                  <a:srgbClr val="2A78D6"/>
                </a:solidFill>
                <a:latin typeface="Segoe UI"/>
              </a:rPr>
              <a:t>3 · ARCHITECTURE &amp; DONNÉES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dirty="0">
                <a:solidFill>
                  <a:srgbClr val="0B0B0B"/>
                </a:solidFill>
                <a:latin typeface="Segoe UI"/>
              </a:rPr>
              <a:t>Une architecture </a:t>
            </a:r>
            <a:r>
              <a:rPr sz="2900" b="1" dirty="0" err="1">
                <a:solidFill>
                  <a:srgbClr val="0B0B0B"/>
                </a:solidFill>
                <a:latin typeface="Segoe UI"/>
              </a:rPr>
              <a:t>décisionnelle</a:t>
            </a:r>
            <a:r>
              <a:rPr sz="2900" b="1" dirty="0">
                <a:solidFill>
                  <a:srgbClr val="0B0B0B"/>
                </a:solidFill>
                <a:latin typeface="Segoe UI"/>
              </a:rPr>
              <a:t> </a:t>
            </a:r>
            <a:r>
              <a:rPr sz="2900" b="1" dirty="0" err="1">
                <a:solidFill>
                  <a:srgbClr val="0B0B0B"/>
                </a:solidFill>
                <a:latin typeface="Segoe UI"/>
              </a:rPr>
              <a:t>en</a:t>
            </a:r>
            <a:r>
              <a:rPr sz="2900" b="1" dirty="0">
                <a:solidFill>
                  <a:srgbClr val="0B0B0B"/>
                </a:solidFill>
                <a:latin typeface="Segoe UI"/>
              </a:rPr>
              <a:t> cinq couches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43840" y="1920240"/>
            <a:ext cx="2084831" cy="2834640"/>
          </a:xfrm>
          <a:prstGeom prst="roundRect">
            <a:avLst>
              <a:gd name="adj" fmla="val 55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08432" y="2103120"/>
            <a:ext cx="1755648" cy="566928"/>
          </a:xfrm>
          <a:prstGeom prst="roundRect">
            <a:avLst>
              <a:gd name="adj" fmla="val 30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6720" y="2834640"/>
            <a:ext cx="1719072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2514E"/>
                </a:solidFill>
                <a:latin typeface="Segoe UI"/>
              </a:rPr>
              <a:t>9 extractions CSV
(POS, CRM, ERP,
marketing, web)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337815" y="3154680"/>
            <a:ext cx="292608" cy="256032"/>
          </a:xfrm>
          <a:prstGeom prst="rightArrow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639568" y="1920240"/>
            <a:ext cx="2084831" cy="2834640"/>
          </a:xfrm>
          <a:prstGeom prst="roundRect">
            <a:avLst>
              <a:gd name="adj" fmla="val 55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804160" y="2103120"/>
            <a:ext cx="1755648" cy="566928"/>
          </a:xfrm>
          <a:prstGeom prst="roundRect">
            <a:avLst>
              <a:gd name="adj" fmla="val 30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INGESTION
&amp; QUALITÉ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22448" y="2834640"/>
            <a:ext cx="1719072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2514E"/>
                </a:solidFill>
                <a:latin typeface="Segoe UI"/>
              </a:rPr>
              <a:t>dédoublonnage,
réparation,
quarantaine,
audit complet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733544" y="3154680"/>
            <a:ext cx="292608" cy="256032"/>
          </a:xfrm>
          <a:prstGeom prst="rightArrow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035296" y="1920240"/>
            <a:ext cx="2084831" cy="2834640"/>
          </a:xfrm>
          <a:prstGeom prst="roundRect">
            <a:avLst>
              <a:gd name="adj" fmla="val 55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199888" y="2103120"/>
            <a:ext cx="1755648" cy="566928"/>
          </a:xfrm>
          <a:prstGeom prst="roundRect">
            <a:avLst>
              <a:gd name="adj" fmla="val 30000"/>
            </a:avLst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ENTREPÔT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8176" y="2834640"/>
            <a:ext cx="1719072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2514E"/>
                </a:solidFill>
                <a:latin typeface="Segoe UI"/>
              </a:rPr>
              <a:t>schéma en étoile
SQLite +
agrégats
pré-calculés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129271" y="3154680"/>
            <a:ext cx="292608" cy="256032"/>
          </a:xfrm>
          <a:prstGeom prst="rightArrow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431024" y="1920240"/>
            <a:ext cx="2084831" cy="2834640"/>
          </a:xfrm>
          <a:prstGeom prst="roundRect">
            <a:avLst>
              <a:gd name="adj" fmla="val 55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595616" y="2103120"/>
            <a:ext cx="1755648" cy="566928"/>
          </a:xfrm>
          <a:prstGeom prst="roundRect">
            <a:avLst>
              <a:gd name="adj" fmla="val 30000"/>
            </a:avLst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MACHINE
LEARNING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13904" y="2834640"/>
            <a:ext cx="1719072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2514E"/>
                </a:solidFill>
                <a:latin typeface="Segoe UI"/>
              </a:rPr>
              <a:t>prévision 90 j,
anomalies,
segmentation
RFM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9525000" y="3154680"/>
            <a:ext cx="292608" cy="256032"/>
          </a:xfrm>
          <a:prstGeom prst="rightArrow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826752" y="1920240"/>
            <a:ext cx="2084831" cy="2834640"/>
          </a:xfrm>
          <a:prstGeom prst="roundRect">
            <a:avLst>
              <a:gd name="adj" fmla="val 55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991344" y="2103120"/>
            <a:ext cx="1755648" cy="566928"/>
          </a:xfrm>
          <a:prstGeom prst="roundRect">
            <a:avLst>
              <a:gd name="adj" fmla="val 30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RESTITUTION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09632" y="2834640"/>
            <a:ext cx="1719072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2514E"/>
                </a:solidFill>
                <a:latin typeface="Segoe UI"/>
              </a:rPr>
              <a:t>app web Flask
(6 pages) +
Power BI
(5 pages)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029200"/>
            <a:ext cx="11091672" cy="1051560"/>
          </a:xfrm>
          <a:prstGeom prst="roundRect">
            <a:avLst>
              <a:gd name="adj" fmla="val 55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B0B0B"/>
                </a:solidFill>
                <a:latin typeface="Segoe UI"/>
              </a:rPr>
              <a:t>Orchestration : python run_pipeline.py  →  chaîne complète rejouée en ≈ 1 minute, reproductible (graine fixée)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2514E"/>
                </a:solidFill>
                <a:latin typeface="Segoe UI"/>
              </a:rPr>
              <a:t>Trajectoire production documentée : Airflow / Azure Data Factory · PostgreSQL / Synapse · app conteneurisée · Power BI Service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98781"/>
                </a:solidFill>
                <a:latin typeface="Segoe UI"/>
              </a:rPr>
              <a:t>Soutenance PFE · Bahgat Insight Platform ·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2A78D6"/>
                </a:solidFill>
                <a:latin typeface="Segoe UI"/>
              </a:rPr>
              <a:t>3 · ARCHITECTURE &amp; DONNÉES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B0B0B"/>
                </a:solidFill>
                <a:latin typeface="Segoe UI"/>
              </a:rPr>
              <a:t>Le jeu de données : réaliste, riche… et instrumenté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2103120" cy="1371600"/>
          </a:xfrm>
          <a:prstGeom prst="roundRect">
            <a:avLst>
              <a:gd name="adj" fmla="val 55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1865376"/>
            <a:ext cx="1773936" cy="1115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2A78D6"/>
                </a:solidFill>
                <a:latin typeface="Segoe UI"/>
              </a:rPr>
              <a:t>1,03 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2514E"/>
                </a:solidFill>
                <a:latin typeface="Segoe UI"/>
              </a:rPr>
              <a:t>lignes de vente
sur 3 ans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07208" y="1737360"/>
            <a:ext cx="2103120" cy="1371600"/>
          </a:xfrm>
          <a:prstGeom prst="roundRect">
            <a:avLst>
              <a:gd name="adj" fmla="val 55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971800" y="1865376"/>
            <a:ext cx="1773936" cy="1115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BAF7A"/>
                </a:solidFill>
                <a:latin typeface="Segoe UI"/>
              </a:rPr>
              <a:t>18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2514E"/>
                </a:solidFill>
                <a:latin typeface="Segoe UI"/>
              </a:rPr>
              <a:t>magasins
EAU · KSA · Bahreïn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65776" y="1737360"/>
            <a:ext cx="2103120" cy="1371600"/>
          </a:xfrm>
          <a:prstGeom prst="roundRect">
            <a:avLst>
              <a:gd name="adj" fmla="val 55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230368" y="1865376"/>
            <a:ext cx="1773936" cy="1115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4A3AA7"/>
                </a:solidFill>
                <a:latin typeface="Segoe UI"/>
              </a:rPr>
              <a:t>320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2514E"/>
                </a:solidFill>
                <a:latin typeface="Segoe UI"/>
              </a:rPr>
              <a:t>produits
8 catégories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24344" y="1737360"/>
            <a:ext cx="2103120" cy="1371600"/>
          </a:xfrm>
          <a:prstGeom prst="roundRect">
            <a:avLst>
              <a:gd name="adj" fmla="val 55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88936" y="1865376"/>
            <a:ext cx="1773936" cy="1115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EDA100"/>
                </a:solidFill>
                <a:latin typeface="Segoe UI"/>
              </a:rPr>
              <a:t>40 000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2514E"/>
                </a:solidFill>
                <a:latin typeface="Segoe UI"/>
              </a:rPr>
              <a:t>clients fidélité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82912" y="1737360"/>
            <a:ext cx="2103120" cy="1371600"/>
          </a:xfrm>
          <a:prstGeom prst="roundRect">
            <a:avLst>
              <a:gd name="adj" fmla="val 55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747504" y="1865376"/>
            <a:ext cx="1773936" cy="1115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EB6834"/>
                </a:solidFill>
                <a:latin typeface="Segoe UI"/>
              </a:rPr>
              <a:t>9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2514E"/>
                </a:solidFill>
                <a:latin typeface="Segoe UI"/>
              </a:rPr>
              <a:t>fichiers sources
simulés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383280"/>
            <a:ext cx="5440680" cy="2697480"/>
          </a:xfrm>
          <a:prstGeom prst="roundRect">
            <a:avLst>
              <a:gd name="adj" fmla="val 55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3611880"/>
            <a:ext cx="489204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2A78D6"/>
                </a:solidFill>
                <a:latin typeface="Segoe UI"/>
              </a:rPr>
              <a:t>RÉALISME DU SIGNAL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2A78D6"/>
                </a:solidFill>
                <a:latin typeface="Segoe UI"/>
              </a:rPr>
              <a:t>•  </a:t>
            </a:r>
            <a:r>
              <a:rPr sz="1150">
                <a:solidFill>
                  <a:srgbClr val="0B0B0B"/>
                </a:solidFill>
                <a:latin typeface="Segoe UI"/>
              </a:rPr>
              <a:t>Saisonnalités : Ramadan / Aïd, Dubai Shopping Festival, White Friday, rentrée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2A78D6"/>
                </a:solidFill>
                <a:latin typeface="Segoe UI"/>
              </a:rPr>
              <a:t>•  </a:t>
            </a:r>
            <a:r>
              <a:rPr sz="1150">
                <a:solidFill>
                  <a:srgbClr val="0B0B0B"/>
                </a:solidFill>
                <a:latin typeface="Segoe UI"/>
              </a:rPr>
              <a:t>Croissance e-commerce +27 %/an vs +9 % magasins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2A78D6"/>
                </a:solidFill>
                <a:latin typeface="Segoe UI"/>
              </a:rPr>
              <a:t>•  </a:t>
            </a:r>
            <a:r>
              <a:rPr sz="1150">
                <a:solidFill>
                  <a:srgbClr val="0B0B0B"/>
                </a:solidFill>
                <a:latin typeface="Segoe UI"/>
              </a:rPr>
              <a:t>Promotions corrélées aux événements, popularité produits en loi de Zipf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2A78D6"/>
                </a:solidFill>
                <a:latin typeface="Segoe UI"/>
              </a:rPr>
              <a:t>•  </a:t>
            </a:r>
            <a:r>
              <a:rPr sz="1150">
                <a:solidFill>
                  <a:srgbClr val="0B0B0B"/>
                </a:solidFill>
                <a:latin typeface="Segoe UI"/>
              </a:rPr>
              <a:t>Comportements clients hétérogènes (log-normale) → segments RFM réels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383280"/>
            <a:ext cx="5440680" cy="2697480"/>
          </a:xfrm>
          <a:prstGeom prst="roundRect">
            <a:avLst>
              <a:gd name="adj" fmla="val 55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3611880"/>
            <a:ext cx="489204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E34948"/>
                </a:solidFill>
                <a:latin typeface="Segoe UI"/>
              </a:rPr>
              <a:t>VÉRITÉ TERRAIN INJECTÉE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2A78D6"/>
                </a:solidFill>
                <a:latin typeface="Segoe UI"/>
              </a:rPr>
              <a:t>•  </a:t>
            </a:r>
            <a:r>
              <a:rPr sz="1150">
                <a:solidFill>
                  <a:srgbClr val="0B0B0B"/>
                </a:solidFill>
                <a:latin typeface="Segoe UI"/>
              </a:rPr>
              <a:t>8 incidents opérationnels : panne POS, coupure électrique, inondation, bug de prix −50 %, fraude aux retours…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2A78D6"/>
                </a:solidFill>
                <a:latin typeface="Segoe UI"/>
              </a:rPr>
              <a:t>•  </a:t>
            </a:r>
            <a:r>
              <a:rPr sz="1150">
                <a:solidFill>
                  <a:srgbClr val="0B0B0B"/>
                </a:solidFill>
                <a:latin typeface="Segoe UI"/>
              </a:rPr>
              <a:t>Défauts de qualité : doublons d'export, dates JJ/MM/AAAA mélangées, IDs manquants, prix nuls, libellés incohérents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2A78D6"/>
                </a:solidFill>
                <a:latin typeface="Segoe UI"/>
              </a:rPr>
              <a:t>•  </a:t>
            </a:r>
            <a:r>
              <a:rPr sz="1150">
                <a:solidFill>
                  <a:srgbClr val="0B0B0B"/>
                </a:solidFill>
                <a:latin typeface="Segoe UI"/>
              </a:rPr>
              <a:t>Tout est daté et quantifié → chaque module est évaluable objectivement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98781"/>
                </a:solidFill>
                <a:latin typeface="Segoe UI"/>
              </a:rPr>
              <a:t>Soutenance PFE · Bahgat Insight Platform ·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2A78D6"/>
                </a:solidFill>
                <a:latin typeface="Segoe UI"/>
              </a:rPr>
              <a:t>3 · ARCHITECTURE &amp; DONNÉES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B0B0B"/>
                </a:solidFill>
                <a:latin typeface="Segoe UI"/>
              </a:rPr>
              <a:t>Pipeline ETL : fiabiliser, tracer, charger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783080"/>
          <a:ext cx="69494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026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52514E"/>
                          </a:solidFill>
                          <a:latin typeface="Segoe UI"/>
                        </a:rPr>
                        <a:t>Défaut détecté</a:t>
                      </a:r>
                    </a:p>
                  </a:txBody>
                  <a:tcPr marL="109728" marR="73152" marT="36576" marB="36576"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52514E"/>
                          </a:solidFill>
                          <a:latin typeface="Segoe UI"/>
                        </a:rPr>
                        <a:t>Lignes</a:t>
                      </a:r>
                    </a:p>
                  </a:txBody>
                  <a:tcPr marL="109728" marR="73152" marT="36576" marB="36576"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52514E"/>
                          </a:solidFill>
                          <a:latin typeface="Segoe UI"/>
                        </a:rPr>
                        <a:t>Action</a:t>
                      </a:r>
                    </a:p>
                  </a:txBody>
                  <a:tcPr marL="109728" marR="73152" marT="36576" marB="36576">
                    <a:solidFill>
                      <a:srgbClr val="F0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B0B0B"/>
                          </a:solidFill>
                          <a:latin typeface="Segoe UI"/>
                        </a:rPr>
                        <a:t>Doublons de transactions (double export POS)</a:t>
                      </a:r>
                    </a:p>
                  </a:txBody>
                  <a:tcPr marL="109728" marR="73152" marT="36576" marB="36576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B0B0B"/>
                          </a:solidFill>
                          <a:latin typeface="Segoe UI"/>
                        </a:rPr>
                        <a:t>2 573</a:t>
                      </a:r>
                    </a:p>
                  </a:txBody>
                  <a:tcPr marL="109728" marR="73152" marT="36576" marB="36576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B0B0B"/>
                          </a:solidFill>
                          <a:latin typeface="Segoe UI"/>
                        </a:rPr>
                        <a:t>supprimés</a:t>
                      </a:r>
                    </a:p>
                  </a:txBody>
                  <a:tcPr marL="109728" marR="73152" marT="36576" marB="36576"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B0B0B"/>
                          </a:solidFill>
                          <a:latin typeface="Segoe UI"/>
                        </a:rPr>
                        <a:t>Dates au format JJ/MM/AAAA</a:t>
                      </a:r>
                    </a:p>
                  </a:txBody>
                  <a:tcPr marL="109728" marR="73152" marT="36576" marB="36576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B0B0B"/>
                          </a:solidFill>
                          <a:latin typeface="Segoe UI"/>
                        </a:rPr>
                        <a:t>61 712</a:t>
                      </a:r>
                    </a:p>
                  </a:txBody>
                  <a:tcPr marL="109728" marR="73152" marT="36576" marB="36576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B0B0B"/>
                          </a:solidFill>
                          <a:latin typeface="Segoe UI"/>
                        </a:rPr>
                        <a:t>normalisées ISO</a:t>
                      </a:r>
                    </a:p>
                  </a:txBody>
                  <a:tcPr marL="109728" marR="73152" marT="36576" marB="36576"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B0B0B"/>
                          </a:solidFill>
                          <a:latin typeface="Segoe UI"/>
                        </a:rPr>
                        <a:t>Identifiants client manquants</a:t>
                      </a:r>
                    </a:p>
                  </a:txBody>
                  <a:tcPr marL="109728" marR="73152" marT="36576" marB="36576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B0B0B"/>
                          </a:solidFill>
                          <a:latin typeface="Segoe UI"/>
                        </a:rPr>
                        <a:t>252 978</a:t>
                      </a:r>
                    </a:p>
                  </a:txBody>
                  <a:tcPr marL="109728" marR="73152" marT="36576" marB="36576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B0B0B"/>
                          </a:solidFill>
                          <a:latin typeface="Segoe UI"/>
                        </a:rPr>
                        <a:t>NULL explicite (invité)</a:t>
                      </a:r>
                    </a:p>
                  </a:txBody>
                  <a:tcPr marL="109728" marR="73152" marT="36576" marB="36576"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B0B0B"/>
                          </a:solidFill>
                          <a:latin typeface="Segoe UI"/>
                        </a:rPr>
                        <a:t>Libellés de paiement incohérents</a:t>
                      </a:r>
                    </a:p>
                  </a:txBody>
                  <a:tcPr marL="109728" marR="73152" marT="36576" marB="36576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B0B0B"/>
                          </a:solidFill>
                          <a:latin typeface="Segoe UI"/>
                        </a:rPr>
                        <a:t>41 128</a:t>
                      </a:r>
                    </a:p>
                  </a:txBody>
                  <a:tcPr marL="109728" marR="73152" marT="36576" marB="36576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B0B0B"/>
                          </a:solidFill>
                          <a:latin typeface="Segoe UI"/>
                        </a:rPr>
                        <a:t>normalisés</a:t>
                      </a:r>
                    </a:p>
                  </a:txBody>
                  <a:tcPr marL="109728" marR="73152" marT="36576" marB="36576"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B0B0B"/>
                          </a:solidFill>
                          <a:latin typeface="Segoe UI"/>
                        </a:rPr>
                        <a:t>Quantités négatives / prix nuls</a:t>
                      </a:r>
                    </a:p>
                  </a:txBody>
                  <a:tcPr marL="109728" marR="73152" marT="36576" marB="36576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B0B0B"/>
                          </a:solidFill>
                          <a:latin typeface="Segoe UI"/>
                        </a:rPr>
                        <a:t>330</a:t>
                      </a:r>
                    </a:p>
                  </a:txBody>
                  <a:tcPr marL="109728" marR="73152" marT="36576" marB="36576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B0B0B"/>
                          </a:solidFill>
                          <a:latin typeface="Segoe UI"/>
                        </a:rPr>
                        <a:t>quarantaine / réparation</a:t>
                      </a:r>
                    </a:p>
                  </a:txBody>
                  <a:tcPr marL="109728" marR="73152" marT="36576" marB="36576"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26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B0B0B"/>
                          </a:solidFill>
                          <a:latin typeface="Segoe UI"/>
                        </a:rPr>
                        <a:t>Retours orphelins, e-mails dupliqués…</a:t>
                      </a:r>
                    </a:p>
                  </a:txBody>
                  <a:tcPr marL="109728" marR="73152" marT="36576" marB="36576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B0B0B"/>
                          </a:solidFill>
                          <a:latin typeface="Segoe UI"/>
                        </a:rPr>
                        <a:t>65+</a:t>
                      </a:r>
                    </a:p>
                  </a:txBody>
                  <a:tcPr marL="109728" marR="73152" marT="36576" marB="36576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B0B0B"/>
                          </a:solidFill>
                          <a:latin typeface="Segoe UI"/>
                        </a:rPr>
                        <a:t>quarantaine / flag</a:t>
                      </a:r>
                    </a:p>
                  </a:txBody>
                  <a:tcPr marL="109728" marR="73152" marT="36576" marB="36576"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772400" y="1783080"/>
            <a:ext cx="3840480" cy="1371600"/>
          </a:xfrm>
          <a:prstGeom prst="roundRect">
            <a:avLst>
              <a:gd name="adj" fmla="val 55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936992" y="1911095"/>
            <a:ext cx="3511296" cy="1115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BAF7A"/>
                </a:solidFill>
                <a:latin typeface="Segoe UI"/>
              </a:rPr>
              <a:t>≈ 360 000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2514E"/>
                </a:solidFill>
                <a:latin typeface="Segoe UI"/>
              </a:rPr>
              <a:t>corrections et décisions qualité,
toutes journalisées (table dq_log)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3337560"/>
            <a:ext cx="3840480" cy="1371600"/>
          </a:xfrm>
          <a:prstGeom prst="roundRect">
            <a:avLst>
              <a:gd name="adj" fmla="val 55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36992" y="3465576"/>
            <a:ext cx="3511296" cy="1115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2A78D6"/>
                </a:solidFill>
                <a:latin typeface="Segoe UI"/>
              </a:rPr>
              <a:t>≈ 1 min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2514E"/>
                </a:solidFill>
                <a:latin typeface="Segoe UI"/>
              </a:rPr>
              <a:t>pour rejouer la chaîne complète :
génération → ETL → ML → exports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4892040"/>
            <a:ext cx="3840480" cy="1097280"/>
          </a:xfrm>
          <a:prstGeom prst="roundRect">
            <a:avLst>
              <a:gd name="adj" fmla="val 5500"/>
            </a:avLst>
          </a:prstGeom>
          <a:solidFill>
            <a:srgbClr val="F0EFEC"/>
          </a:solidFill>
          <a:ln w="12700">
            <a:solidFill>
              <a:srgbClr val="89878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2514E"/>
                </a:solidFill>
                <a:latin typeface="Segoe UI"/>
              </a:rPr>
              <a:t>CAPTURE À INSÉRER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98781"/>
                </a:solidFill>
                <a:latin typeface="Segoe UI"/>
              </a:rPr>
              <a:t>page « Data Pipeline » de l'app (rapport de fiabilisation)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98781"/>
                </a:solidFill>
                <a:latin typeface="Segoe UI"/>
              </a:rPr>
              <a:t>Soutenance PFE · Bahgat Insight Platform ·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2A78D6"/>
                </a:solidFill>
                <a:latin typeface="Segoe UI"/>
              </a:rPr>
              <a:t>4 · MACHINE LEARNING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B0B0B"/>
                </a:solidFill>
                <a:latin typeface="Segoe UI"/>
              </a:rPr>
              <a:t>Prévision du CA : champion vs challenger, départagés par backtest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557784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000"/>
              </a:spcAft>
            </a:pPr>
            <a:r>
              <a:rPr sz="1250" b="1">
                <a:solidFill>
                  <a:srgbClr val="2A78D6"/>
                </a:solidFill>
                <a:latin typeface="Segoe UI"/>
              </a:rPr>
              <a:t>•  </a:t>
            </a:r>
            <a:r>
              <a:rPr sz="1250" b="1">
                <a:solidFill>
                  <a:srgbClr val="0B0B0B"/>
                </a:solidFill>
                <a:latin typeface="Segoe UI"/>
              </a:rPr>
              <a:t>Holt-Winters — </a:t>
            </a:r>
            <a:r>
              <a:rPr sz="1250">
                <a:solidFill>
                  <a:srgbClr val="52514E"/>
                </a:solidFill>
                <a:latin typeface="Segoe UI"/>
              </a:rPr>
              <a:t>lissage exponentiel triple : niveau, tendance amortie, saisonnalité hebdomadaire</a:t>
            </a:r>
          </a:p>
          <a:p>
            <a:pPr>
              <a:spcAft>
                <a:spcPts val="1000"/>
              </a:spcAft>
            </a:pPr>
            <a:r>
              <a:rPr sz="1250" b="1">
                <a:solidFill>
                  <a:srgbClr val="2A78D6"/>
                </a:solidFill>
                <a:latin typeface="Segoe UI"/>
              </a:rPr>
              <a:t>•  </a:t>
            </a:r>
            <a:r>
              <a:rPr sz="1250" b="1">
                <a:solidFill>
                  <a:srgbClr val="0B0B0B"/>
                </a:solidFill>
                <a:latin typeface="Segoe UI"/>
              </a:rPr>
              <a:t>Gradient Boosting — </a:t>
            </a:r>
            <a:r>
              <a:rPr sz="1250">
                <a:solidFill>
                  <a:srgbClr val="52514E"/>
                </a:solidFill>
                <a:latin typeface="Segoe UI"/>
              </a:rPr>
              <a:t>variables calendaires (Ramadan, événements) + retards J-1/7/14/28, prévision récursive</a:t>
            </a:r>
          </a:p>
          <a:p>
            <a:pPr>
              <a:spcAft>
                <a:spcPts val="1000"/>
              </a:spcAft>
            </a:pPr>
            <a:r>
              <a:rPr sz="1250" b="1">
                <a:solidFill>
                  <a:srgbClr val="2A78D6"/>
                </a:solidFill>
                <a:latin typeface="Segoe UI"/>
              </a:rPr>
              <a:t>•  </a:t>
            </a:r>
            <a:r>
              <a:rPr sz="1250" b="1">
                <a:solidFill>
                  <a:srgbClr val="0B0B0B"/>
                </a:solidFill>
                <a:latin typeface="Segoe UI"/>
              </a:rPr>
              <a:t>Backtest honnête — </a:t>
            </a:r>
            <a:r>
              <a:rPr sz="1250">
                <a:solidFill>
                  <a:srgbClr val="52514E"/>
                </a:solidFill>
                <a:latin typeface="Segoe UI"/>
              </a:rPr>
              <a:t>60 jours de holdout jamais vus à l'entraînement, MAPE comme juge de paix</a:t>
            </a:r>
          </a:p>
          <a:p>
            <a:pPr>
              <a:spcAft>
                <a:spcPts val="1000"/>
              </a:spcAft>
            </a:pPr>
            <a:r>
              <a:rPr sz="1250" b="1">
                <a:solidFill>
                  <a:srgbClr val="2A78D6"/>
                </a:solidFill>
                <a:latin typeface="Segoe UI"/>
              </a:rPr>
              <a:t>•  </a:t>
            </a:r>
            <a:r>
              <a:rPr sz="1250" b="1">
                <a:solidFill>
                  <a:srgbClr val="0B0B0B"/>
                </a:solidFill>
                <a:latin typeface="Segoe UI"/>
              </a:rPr>
              <a:t>Sortie — </a:t>
            </a:r>
            <a:r>
              <a:rPr sz="1250">
                <a:solidFill>
                  <a:srgbClr val="52514E"/>
                </a:solidFill>
                <a:latin typeface="Segoe UI"/>
              </a:rPr>
              <a:t>prévision officielle à 90 jours avec intervalle de confiance à 95 % qui s'élargit avec l'horizon</a:t>
            </a:r>
          </a:p>
          <a:p>
            <a:pPr>
              <a:spcAft>
                <a:spcPts val="1000"/>
              </a:spcAft>
            </a:pPr>
            <a:r>
              <a:rPr sz="1250" b="1">
                <a:solidFill>
                  <a:srgbClr val="2A78D6"/>
                </a:solidFill>
                <a:latin typeface="Segoe UI"/>
              </a:rPr>
              <a:t>•  </a:t>
            </a:r>
            <a:r>
              <a:rPr sz="1250" b="1">
                <a:solidFill>
                  <a:srgbClr val="0B0B0B"/>
                </a:solidFill>
                <a:latin typeface="Segoe UI"/>
              </a:rPr>
              <a:t>Par catégorie — </a:t>
            </a:r>
            <a:r>
              <a:rPr sz="1250">
                <a:solidFill>
                  <a:srgbClr val="52514E"/>
                </a:solidFill>
                <a:latin typeface="Segoe UI"/>
              </a:rPr>
              <a:t>8 prévisions Holt-Winters supplémentaires (MAPE 10-19 %)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92240" y="1783080"/>
          <a:ext cx="512064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492240" y="4846320"/>
            <a:ext cx="5120640" cy="1143000"/>
          </a:xfrm>
          <a:prstGeom prst="roundRect">
            <a:avLst>
              <a:gd name="adj" fmla="val 55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C5CAB"/>
                </a:solidFill>
                <a:latin typeface="Segoe UI"/>
              </a:rPr>
              <a:t>Champion : Holt-Winters (MAPE 7,50 %)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2514E"/>
                </a:solidFill>
                <a:latin typeface="Segoe UI"/>
              </a:rPr>
              <a:t>La saisonnalité hebdomadaire forte et stable favorise le modèle statistique — un résultat que je sais expliquer, pas subir.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98781"/>
                </a:solidFill>
                <a:latin typeface="Segoe UI"/>
              </a:rPr>
              <a:t>Soutenance PFE · Bahgat Insight Platform ·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2A78D6"/>
                </a:solidFill>
                <a:latin typeface="Segoe UI"/>
              </a:rPr>
              <a:t>4 · MACHINE LEARNING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B0B0B"/>
                </a:solidFill>
                <a:latin typeface="Segoe UI"/>
              </a:rPr>
              <a:t>Détection d'anomalies : deux détecteurs, validés contre la vérité terrain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83080"/>
            <a:ext cx="5577840" cy="2057400"/>
          </a:xfrm>
          <a:prstGeom prst="roundRect">
            <a:avLst>
              <a:gd name="adj" fmla="val 55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984248"/>
            <a:ext cx="5029200" cy="1691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4A3AA7"/>
                </a:solidFill>
                <a:latin typeface="Segoe UI"/>
              </a:rPr>
              <a:t>ISOLATION FOREST — multivarié, niveau entreprise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2514E"/>
                </a:solidFill>
                <a:latin typeface="Segoe UI"/>
              </a:rPr>
              <a:t>Chaque journée = un vecteur de KPIs (CA, commandes, panier, remises, marge, remboursements). Détecte les combinaisons étranges : le bug de prix avait un CA normal mais une marge effondrée.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023360"/>
            <a:ext cx="5577840" cy="2057400"/>
          </a:xfrm>
          <a:prstGeom prst="roundRect">
            <a:avLst>
              <a:gd name="adj" fmla="val 55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4224528"/>
            <a:ext cx="5029200" cy="1691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A78D6"/>
                </a:solidFill>
                <a:latin typeface="Segoe UI"/>
              </a:rPr>
              <a:t>Z-SCORE ROBUSTE — univarié, par magasin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2514E"/>
                </a:solidFill>
                <a:latin typeface="Segoe UI"/>
              </a:rPr>
              <a:t>Référence « même jour de semaine » (8 dernières occurrences) + plancher de variance + règle de sauvegarde sur l'ampleur relative. Même logique sur les retours pour la fraude.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783080"/>
            <a:ext cx="5212080" cy="1691640"/>
          </a:xfrm>
          <a:prstGeom prst="roundRect">
            <a:avLst>
              <a:gd name="adj" fmla="val 55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65392" y="1911095"/>
            <a:ext cx="4882896" cy="1435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1BAF7A"/>
                </a:solidFill>
                <a:latin typeface="Segoe UI"/>
              </a:rPr>
              <a:t>7 / 7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2514E"/>
                </a:solidFill>
                <a:latin typeface="Segoe UI"/>
              </a:rPr>
              <a:t>incidents injectés retrouvés par les détecteurs combinés (panne POS, coupure, inondation, vente flash, bug de prix, pic e-commerce, fraude aux retours)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3657600"/>
            <a:ext cx="5212080" cy="2423160"/>
          </a:xfrm>
          <a:prstGeom prst="roundRect">
            <a:avLst>
              <a:gd name="adj" fmla="val 55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5120" y="3858768"/>
            <a:ext cx="466344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E34948"/>
                </a:solidFill>
                <a:latin typeface="Segoe UI"/>
              </a:rPr>
              <a:t>LEÇON D'INGÉNIERIE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B0B0B"/>
                </a:solidFill>
                <a:latin typeface="Segoe UI"/>
              </a:rPr>
              <a:t>Le premier détecteur manquait des effondrements de −75 %.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2514E"/>
                </a:solidFill>
                <a:latin typeface="Segoe UI"/>
              </a:rPr>
              <a:t>Diagnostic chiffré dans l'entrepôt : la saisonnalité hebdomadaire et les ventes à queue lourde gonflaient l'écart-type sur 8 points. Correction : baseline même-jour-de-semaine, réalisme du générateur (popularité ↓ avec le prix), garde-fous d'ampleur.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98781"/>
                </a:solidFill>
                <a:latin typeface="Segoe UI"/>
              </a:rPr>
              <a:t>Soutenance PFE · Bahgat Insight Platform ·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2A78D6"/>
                </a:solidFill>
                <a:latin typeface="Segoe UI"/>
              </a:rPr>
              <a:t>4 · MACHINE LEARNING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B0B0B"/>
                </a:solidFill>
                <a:latin typeface="Segoe UI"/>
              </a:rPr>
              <a:t>Segmentation RFM : de la donnée client à l'action marketing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737360"/>
          <a:ext cx="484632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1874519"/>
            <a:ext cx="566928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 b="1">
                <a:solidFill>
                  <a:srgbClr val="2A78D6"/>
                </a:solidFill>
                <a:latin typeface="Segoe UI"/>
              </a:rPr>
              <a:t>•  </a:t>
            </a:r>
            <a:r>
              <a:rPr sz="1200" b="1">
                <a:solidFill>
                  <a:srgbClr val="0B0B0B"/>
                </a:solidFill>
                <a:latin typeface="Segoe UI"/>
              </a:rPr>
              <a:t>Méthode — </a:t>
            </a:r>
            <a:r>
              <a:rPr sz="1200">
                <a:solidFill>
                  <a:srgbClr val="52514E"/>
                </a:solidFill>
                <a:latin typeface="Segoe UI"/>
              </a:rPr>
              <a:t>RFM (récence, fréquence, montant), log-transformé + KMeans k=5, étiquetage automatique des centroïdes</a:t>
            </a:r>
          </a:p>
          <a:p>
            <a:pPr>
              <a:spcAft>
                <a:spcPts val="900"/>
              </a:spcAft>
            </a:pPr>
            <a:r>
              <a:rPr sz="1200" b="1">
                <a:solidFill>
                  <a:srgbClr val="2A78D6"/>
                </a:solidFill>
                <a:latin typeface="Segoe UI"/>
              </a:rPr>
              <a:t>•  </a:t>
            </a:r>
            <a:r>
              <a:rPr sz="1200" b="1">
                <a:solidFill>
                  <a:srgbClr val="0B0B0B"/>
                </a:solidFill>
                <a:latin typeface="Segoe UI"/>
              </a:rPr>
              <a:t>Structure retrouvée — </a:t>
            </a:r>
            <a:r>
              <a:rPr sz="1200">
                <a:solidFill>
                  <a:srgbClr val="52514E"/>
                </a:solidFill>
                <a:latin typeface="Segoe UI"/>
              </a:rPr>
              <a:t>≈ 15 % des clients (Champions) concentrent près de la moitié du CA — conforme au retail réel</a:t>
            </a:r>
          </a:p>
          <a:p>
            <a:pPr>
              <a:spcAft>
                <a:spcPts val="900"/>
              </a:spcAft>
            </a:pPr>
            <a:r>
              <a:rPr sz="1200" b="1">
                <a:solidFill>
                  <a:srgbClr val="2A78D6"/>
                </a:solidFill>
                <a:latin typeface="Segoe UI"/>
              </a:rPr>
              <a:t>•  </a:t>
            </a:r>
            <a:r>
              <a:rPr sz="1200" b="1">
                <a:solidFill>
                  <a:srgbClr val="0B0B0B"/>
                </a:solidFill>
                <a:latin typeface="Segoe UI"/>
              </a:rPr>
              <a:t>Scores individuels — </a:t>
            </a:r>
            <a:r>
              <a:rPr sz="1200">
                <a:solidFill>
                  <a:srgbClr val="52514E"/>
                </a:solidFill>
                <a:latin typeface="Segoe UI"/>
              </a:rPr>
              <a:t>risque d'attrition (logistique, seuil 120 j) et valeur client annualisée (CLV)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4206240"/>
            <a:ext cx="5669280" cy="1783080"/>
          </a:xfrm>
          <a:prstGeom prst="roundRect">
            <a:avLst>
              <a:gd name="adj" fmla="val 5500"/>
            </a:avLst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Livrable actionnable : la churn watchlist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CDE2FB"/>
                </a:solidFill>
                <a:latin typeface="Segoe UI"/>
              </a:rPr>
              <a:t>Clients à forte valeur ET à risque d'attrition élevé, triés par CLV — une campagne de rétention prête à lancer pour le marketing.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98781"/>
                </a:solidFill>
                <a:latin typeface="Segoe UI"/>
              </a:rPr>
              <a:t>Soutenance PFE · Bahgat Insight Platform ·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2A78D6"/>
                </a:solidFill>
                <a:latin typeface="Segoe UI"/>
              </a:rPr>
              <a:t>5 · RESTITUTION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B0B0B"/>
                </a:solidFill>
                <a:latin typeface="Segoe UI"/>
              </a:rPr>
              <a:t>Deux front-ends, un même modèle sémantique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5486400" cy="3017520"/>
          </a:xfrm>
          <a:prstGeom prst="roundRect">
            <a:avLst>
              <a:gd name="adj" fmla="val 5500"/>
            </a:avLst>
          </a:prstGeom>
          <a:solidFill>
            <a:srgbClr val="F0EFEC"/>
          </a:solidFill>
          <a:ln w="12700">
            <a:solidFill>
              <a:srgbClr val="89878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2514E"/>
                </a:solidFill>
                <a:latin typeface="Segoe UI"/>
              </a:rPr>
              <a:t>CAPTURE À INSÉRER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98781"/>
                </a:solidFill>
                <a:latin typeface="Segoe UI"/>
              </a:rPr>
              <a:t>app Flask — page Executive Overview (ou Forecasting), mode clair ou sombre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892040"/>
            <a:ext cx="54864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0B0B0B"/>
                </a:solidFill>
                <a:latin typeface="Segoe UI"/>
              </a:rPr>
              <a:t>Application web Flask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2A78D6"/>
                </a:solidFill>
                <a:latin typeface="Segoe UI"/>
              </a:rPr>
              <a:t>•  </a:t>
            </a:r>
            <a:r>
              <a:rPr sz="1100">
                <a:solidFill>
                  <a:srgbClr val="0B0B0B"/>
                </a:solidFill>
                <a:latin typeface="Segoe UI"/>
              </a:rPr>
              <a:t>6 pages · ~20 endpoints JSON · &lt; 100 ms grâce aux agrégats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2A78D6"/>
                </a:solidFill>
                <a:latin typeface="Segoe UI"/>
              </a:rPr>
              <a:t>•  </a:t>
            </a:r>
            <a:r>
              <a:rPr sz="1100">
                <a:solidFill>
                  <a:srgbClr val="0B0B0B"/>
                </a:solidFill>
                <a:latin typeface="Segoe UI"/>
              </a:rPr>
              <a:t>design system type shadcn/ui, mode sombre, palette accessible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737360"/>
            <a:ext cx="5486400" cy="3017520"/>
          </a:xfrm>
          <a:prstGeom prst="roundRect">
            <a:avLst>
              <a:gd name="adj" fmla="val 5500"/>
            </a:avLst>
          </a:prstGeom>
          <a:solidFill>
            <a:srgbClr val="F0EFEC"/>
          </a:solidFill>
          <a:ln w="12700">
            <a:solidFill>
              <a:srgbClr val="89878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2514E"/>
                </a:solidFill>
                <a:latin typeface="Segoe UI"/>
              </a:rPr>
              <a:t>CAPTURE À INSÉRER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98781"/>
                </a:solidFill>
                <a:latin typeface="Segoe UI"/>
              </a:rPr>
              <a:t>rapport Power BI — page Executive Overview ou Forecast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4892040"/>
            <a:ext cx="54864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0B0B0B"/>
                </a:solidFill>
                <a:latin typeface="Segoe UI"/>
              </a:rPr>
              <a:t>Rapport Power BI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2A78D6"/>
                </a:solidFill>
                <a:latin typeface="Segoe UI"/>
              </a:rPr>
              <a:t>•  </a:t>
            </a:r>
            <a:r>
              <a:rPr sz="1100">
                <a:solidFill>
                  <a:srgbClr val="0B0B0B"/>
                </a:solidFill>
                <a:latin typeface="Segoe UI"/>
              </a:rPr>
              <a:t>modèle en étoile · 36 mesures DAX (time intelligence, ML) · 5 pages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2A78D6"/>
                </a:solidFill>
                <a:latin typeface="Segoe UI"/>
              </a:rPr>
              <a:t>•  </a:t>
            </a:r>
            <a:r>
              <a:rPr sz="1100">
                <a:solidFill>
                  <a:srgbClr val="0B0B0B"/>
                </a:solidFill>
                <a:latin typeface="Segoe UI"/>
              </a:rPr>
              <a:t>thème personnalisé aligné sur l'app · généré au format projet PBIP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98781"/>
                </a:solidFill>
                <a:latin typeface="Segoe UI"/>
              </a:rPr>
              <a:t>Soutenance PFE · Bahgat Insight Platform ·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36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3327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CDE2FB"/>
                </a:solidFill>
                <a:latin typeface="Segoe UI"/>
              </a:rPr>
              <a:t>DÉMONSTRATION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Segoe UI"/>
              </a:rPr>
              <a:t>La plateforme en conditions réelles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3931920"/>
            <a:ext cx="2514600" cy="1051560"/>
          </a:xfrm>
          <a:prstGeom prst="roundRect">
            <a:avLst>
              <a:gd name="adj" fmla="val 5500"/>
            </a:avLst>
          </a:prstGeom>
          <a:solidFill>
            <a:srgbClr val="1042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3716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1 · Pipeline en direct (ETL + qualité)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593592" y="3931920"/>
            <a:ext cx="2514600" cy="1051560"/>
          </a:xfrm>
          <a:prstGeom prst="roundRect">
            <a:avLst>
              <a:gd name="adj" fmla="val 5500"/>
            </a:avLst>
          </a:prstGeom>
          <a:solidFill>
            <a:srgbClr val="1042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3716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2 · Executive Overview &amp; mode sombre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72784" y="3931920"/>
            <a:ext cx="2514600" cy="1051560"/>
          </a:xfrm>
          <a:prstGeom prst="roundRect">
            <a:avLst>
              <a:gd name="adj" fmla="val 5500"/>
            </a:avLst>
          </a:prstGeom>
          <a:solidFill>
            <a:srgbClr val="1042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3716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3 · Forecast + validation des anomalies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51976" y="3931920"/>
            <a:ext cx="2514600" cy="1051560"/>
          </a:xfrm>
          <a:prstGeom prst="roundRect">
            <a:avLst>
              <a:gd name="adj" fmla="val 5500"/>
            </a:avLst>
          </a:prstGeom>
          <a:solidFill>
            <a:srgbClr val="1042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3716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4 · Rapport Power BI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DE2FB"/>
                </a:solidFill>
                <a:latin typeface="Segoe UI"/>
              </a:rPr>
              <a:t>Soutenance PFE · Bahgat Insight Platform ·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2A78D6"/>
                </a:solidFill>
                <a:latin typeface="Segoe UI"/>
              </a:rPr>
              <a:t>6 · BILAN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B0B0B"/>
                </a:solidFill>
                <a:latin typeface="Segoe UI"/>
              </a:rPr>
              <a:t>Résultats mesurés — et enseignements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2651760" cy="1463040"/>
          </a:xfrm>
          <a:prstGeom prst="roundRect">
            <a:avLst>
              <a:gd name="adj" fmla="val 55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1865376"/>
            <a:ext cx="2322576" cy="12070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1C5CAB"/>
                </a:solidFill>
                <a:latin typeface="Segoe UI"/>
              </a:rPr>
              <a:t>7,5 %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2514E"/>
                </a:solidFill>
                <a:latin typeface="Segoe UI"/>
              </a:rPr>
              <a:t>MAPE de la prévision
(backtest 60 j)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92424" y="1737360"/>
            <a:ext cx="2651760" cy="1463040"/>
          </a:xfrm>
          <a:prstGeom prst="roundRect">
            <a:avLst>
              <a:gd name="adj" fmla="val 55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557016" y="1865376"/>
            <a:ext cx="2322576" cy="12070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1BAF7A"/>
                </a:solidFill>
                <a:latin typeface="Segoe UI"/>
              </a:rPr>
              <a:t>100 %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2514E"/>
                </a:solidFill>
                <a:latin typeface="Segoe UI"/>
              </a:rPr>
              <a:t>des incidents injectés
détectés (7/7)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6207" y="1737360"/>
            <a:ext cx="2651760" cy="1463040"/>
          </a:xfrm>
          <a:prstGeom prst="roundRect">
            <a:avLst>
              <a:gd name="adj" fmla="val 55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799" y="1865376"/>
            <a:ext cx="2322576" cy="12070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4A3AA7"/>
                </a:solidFill>
                <a:latin typeface="Segoe UI"/>
              </a:rPr>
              <a:t>360 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2514E"/>
                </a:solidFill>
                <a:latin typeface="Segoe UI"/>
              </a:rPr>
              <a:t>corrections qualité
journalisées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79992" y="1737360"/>
            <a:ext cx="2651760" cy="1463040"/>
          </a:xfrm>
          <a:prstGeom prst="roundRect">
            <a:avLst>
              <a:gd name="adj" fmla="val 55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244584" y="1865376"/>
            <a:ext cx="2322576" cy="12070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EDA100"/>
                </a:solidFill>
                <a:latin typeface="Segoe UI"/>
              </a:rPr>
              <a:t>≈ 1 min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2514E"/>
                </a:solidFill>
                <a:latin typeface="Segoe UI"/>
              </a:rPr>
              <a:t>chaîne complète
reproductible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429000"/>
            <a:ext cx="5486400" cy="2651760"/>
          </a:xfrm>
          <a:prstGeom prst="roundRect">
            <a:avLst>
              <a:gd name="adj" fmla="val 55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3657600"/>
            <a:ext cx="4937760" cy="2240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2A78D6"/>
                </a:solidFill>
                <a:latin typeface="Segoe UI"/>
              </a:rPr>
              <a:t>POUR LE CABINET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2A78D6"/>
                </a:solidFill>
                <a:latin typeface="Segoe UI"/>
              </a:rPr>
              <a:t>•  </a:t>
            </a:r>
            <a:r>
              <a:rPr sz="1200">
                <a:solidFill>
                  <a:srgbClr val="0B0B0B"/>
                </a:solidFill>
                <a:latin typeface="Segoe UI"/>
              </a:rPr>
              <a:t>Un démonstrateur commercial sans aucune donnée réelle exposée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2A78D6"/>
                </a:solidFill>
                <a:latin typeface="Segoe UI"/>
              </a:rPr>
              <a:t>•  </a:t>
            </a:r>
            <a:r>
              <a:rPr sz="1200">
                <a:solidFill>
                  <a:srgbClr val="0B0B0B"/>
                </a:solidFill>
                <a:latin typeface="Segoe UI"/>
              </a:rPr>
              <a:t>Une base de code réutilisable par mission (source-agnostique)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2A78D6"/>
                </a:solidFill>
                <a:latin typeface="Segoe UI"/>
              </a:rPr>
              <a:t>•  </a:t>
            </a:r>
            <a:r>
              <a:rPr sz="1200">
                <a:solidFill>
                  <a:srgbClr val="0B0B0B"/>
                </a:solidFill>
                <a:latin typeface="Segoe UI"/>
              </a:rPr>
              <a:t>Une bibliothèque DAX et un design system prêts à l'emploi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3429000"/>
            <a:ext cx="5486400" cy="2651760"/>
          </a:xfrm>
          <a:prstGeom prst="roundRect">
            <a:avLst>
              <a:gd name="adj" fmla="val 55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37960" y="3657600"/>
            <a:ext cx="4937760" cy="2240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1BAF7A"/>
                </a:solidFill>
                <a:latin typeface="Segoe UI"/>
              </a:rPr>
              <a:t>CE QUE J'AI APPRIS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2A78D6"/>
                </a:solidFill>
                <a:latin typeface="Segoe UI"/>
              </a:rPr>
              <a:t>•  </a:t>
            </a:r>
            <a:r>
              <a:rPr sz="1200">
                <a:solidFill>
                  <a:srgbClr val="0B0B0B"/>
                </a:solidFill>
                <a:latin typeface="Segoe UI"/>
              </a:rPr>
              <a:t>Ingénierie des données : modélisation Kimball, pipelines audités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2A78D6"/>
                </a:solidFill>
                <a:latin typeface="Segoe UI"/>
              </a:rPr>
              <a:t>•  </a:t>
            </a:r>
            <a:r>
              <a:rPr sz="1200">
                <a:solidFill>
                  <a:srgbClr val="0B0B0B"/>
                </a:solidFill>
                <a:latin typeface="Segoe UI"/>
              </a:rPr>
              <a:t>Évaluation honnête : backtests sans fuite, vérité terrain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2A78D6"/>
                </a:solidFill>
                <a:latin typeface="Segoe UI"/>
              </a:rPr>
              <a:t>•  </a:t>
            </a:r>
            <a:r>
              <a:rPr sz="1200">
                <a:solidFill>
                  <a:srgbClr val="0B0B0B"/>
                </a:solidFill>
                <a:latin typeface="Segoe UI"/>
              </a:rPr>
              <a:t>Robustesse statistique face aux données réalistes (queues lourdes)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2A78D6"/>
                </a:solidFill>
                <a:latin typeface="Segoe UI"/>
              </a:rPr>
              <a:t>•  </a:t>
            </a:r>
            <a:r>
              <a:rPr sz="1200">
                <a:solidFill>
                  <a:srgbClr val="0B0B0B"/>
                </a:solidFill>
                <a:latin typeface="Segoe UI"/>
              </a:rPr>
              <a:t>Communication : rendre le ML intelligible pour des décideurs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98781"/>
                </a:solidFill>
                <a:latin typeface="Segoe UI"/>
              </a:rPr>
              <a:t>Soutenance PFE · Bahgat Insight Platform ·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2A78D6"/>
                </a:solidFill>
                <a:latin typeface="Segoe UI"/>
              </a:rPr>
              <a:t>6 · BILAN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B0B0B"/>
                </a:solidFill>
                <a:latin typeface="Segoe UI"/>
              </a:rPr>
              <a:t>Limites assumées, feuille de route tracée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83080"/>
            <a:ext cx="5486400" cy="4114800"/>
          </a:xfrm>
          <a:prstGeom prst="roundRect">
            <a:avLst>
              <a:gd name="adj" fmla="val 55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4937760" cy="3657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E34948"/>
                </a:solidFill>
                <a:latin typeface="Segoe UI"/>
              </a:rPr>
              <a:t>LIMITES (DÉMONSTRATEUR)</a:t>
            </a:r>
          </a:p>
          <a:p>
            <a:pPr>
              <a:spcAft>
                <a:spcPts val="900"/>
              </a:spcAft>
            </a:pPr>
            <a:r>
              <a:rPr sz="1200" b="1">
                <a:solidFill>
                  <a:srgbClr val="2A78D6"/>
                </a:solidFill>
                <a:latin typeface="Segoe UI"/>
              </a:rPr>
              <a:t>•  </a:t>
            </a:r>
            <a:r>
              <a:rPr sz="1200">
                <a:solidFill>
                  <a:srgbClr val="0B0B0B"/>
                </a:solidFill>
                <a:latin typeface="Segoe UI"/>
              </a:rPr>
              <a:t>Entrepôt SQLite local, app non authentifiée</a:t>
            </a:r>
          </a:p>
          <a:p>
            <a:pPr>
              <a:spcAft>
                <a:spcPts val="900"/>
              </a:spcAft>
            </a:pPr>
            <a:r>
              <a:rPr sz="1200" b="1">
                <a:solidFill>
                  <a:srgbClr val="2A78D6"/>
                </a:solidFill>
                <a:latin typeface="Segoe UI"/>
              </a:rPr>
              <a:t>•  </a:t>
            </a:r>
            <a:r>
              <a:rPr sz="1200">
                <a:solidFill>
                  <a:srgbClr val="0B0B0B"/>
                </a:solidFill>
                <a:latin typeface="Segoe UI"/>
              </a:rPr>
              <a:t>Prévision univariée par périmètre (pas de covariables promo / marketing)</a:t>
            </a:r>
          </a:p>
          <a:p>
            <a:pPr>
              <a:spcAft>
                <a:spcPts val="900"/>
              </a:spcAft>
            </a:pPr>
            <a:r>
              <a:rPr sz="1200" b="1">
                <a:solidFill>
                  <a:srgbClr val="2A78D6"/>
                </a:solidFill>
                <a:latin typeface="Segoe UI"/>
              </a:rPr>
              <a:t>•  </a:t>
            </a:r>
            <a:r>
              <a:rPr sz="1200">
                <a:solidFill>
                  <a:srgbClr val="0B0B0B"/>
                </a:solidFill>
                <a:latin typeface="Segoe UI"/>
              </a:rPr>
              <a:t>Score de churn heuristique (pas d'étiquettes réelles)</a:t>
            </a:r>
          </a:p>
          <a:p>
            <a:pPr>
              <a:spcAft>
                <a:spcPts val="900"/>
              </a:spcAft>
            </a:pPr>
            <a:r>
              <a:rPr sz="1200" b="1">
                <a:solidFill>
                  <a:srgbClr val="2A78D6"/>
                </a:solidFill>
                <a:latin typeface="Segoe UI"/>
              </a:rPr>
              <a:t>•  </a:t>
            </a:r>
            <a:r>
              <a:rPr sz="1200">
                <a:solidFill>
                  <a:srgbClr val="0B0B0B"/>
                </a:solidFill>
                <a:latin typeface="Segoe UI"/>
              </a:rPr>
              <a:t>Rafraîchissement Power BI manuel en local</a:t>
            </a:r>
          </a:p>
          <a:p>
            <a:pPr>
              <a:spcAft>
                <a:spcPts val="900"/>
              </a:spcAft>
            </a:pPr>
            <a:r>
              <a:rPr sz="1200" b="1">
                <a:solidFill>
                  <a:srgbClr val="2A78D6"/>
                </a:solidFill>
                <a:latin typeface="Segoe UI"/>
              </a:rPr>
              <a:t>•  </a:t>
            </a:r>
            <a:r>
              <a:rPr sz="1200">
                <a:solidFill>
                  <a:srgbClr val="0B0B0B"/>
                </a:solidFill>
                <a:latin typeface="Segoe UI"/>
              </a:rPr>
              <a:t>Pas de boucle de retour analyste sur les alertes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783080"/>
            <a:ext cx="5486400" cy="4114800"/>
          </a:xfrm>
          <a:prstGeom prst="roundRect">
            <a:avLst>
              <a:gd name="adj" fmla="val 55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37960" y="2011680"/>
            <a:ext cx="4937760" cy="3657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1BAF7A"/>
                </a:solidFill>
                <a:latin typeface="Segoe UI"/>
              </a:rPr>
              <a:t>FEUILLE DE ROUTE</a:t>
            </a:r>
          </a:p>
          <a:p>
            <a:pPr>
              <a:spcAft>
                <a:spcPts val="900"/>
              </a:spcAft>
            </a:pPr>
            <a:r>
              <a:rPr sz="1200" b="1">
                <a:solidFill>
                  <a:srgbClr val="2A78D6"/>
                </a:solidFill>
                <a:latin typeface="Segoe UI"/>
              </a:rPr>
              <a:t>•  </a:t>
            </a:r>
            <a:r>
              <a:rPr sz="1200">
                <a:solidFill>
                  <a:srgbClr val="0B0B0B"/>
                </a:solidFill>
                <a:latin typeface="Segoe UI"/>
              </a:rPr>
              <a:t>PostgreSQL / Synapse + orchestration Airflow ou Data Factory</a:t>
            </a:r>
          </a:p>
          <a:p>
            <a:pPr>
              <a:spcAft>
                <a:spcPts val="900"/>
              </a:spcAft>
            </a:pPr>
            <a:r>
              <a:rPr sz="1200" b="1">
                <a:solidFill>
                  <a:srgbClr val="2A78D6"/>
                </a:solidFill>
                <a:latin typeface="Segoe UI"/>
              </a:rPr>
              <a:t>•  </a:t>
            </a:r>
            <a:r>
              <a:rPr sz="1200">
                <a:solidFill>
                  <a:srgbClr val="0B0B0B"/>
                </a:solidFill>
                <a:latin typeface="Segoe UI"/>
              </a:rPr>
              <a:t>Covariables exogènes et modèles multivariés (LightGBM, SARIMAX)</a:t>
            </a:r>
          </a:p>
          <a:p>
            <a:pPr>
              <a:spcAft>
                <a:spcPts val="900"/>
              </a:spcAft>
            </a:pPr>
            <a:r>
              <a:rPr sz="1200" b="1">
                <a:solidFill>
                  <a:srgbClr val="2A78D6"/>
                </a:solidFill>
                <a:latin typeface="Segoe UI"/>
              </a:rPr>
              <a:t>•  </a:t>
            </a:r>
            <a:r>
              <a:rPr sz="1200">
                <a:solidFill>
                  <a:srgbClr val="0B0B0B"/>
                </a:solidFill>
                <a:latin typeface="Segoe UI"/>
              </a:rPr>
              <a:t>Churn supervisé dès que des labels existent + MLOps (suivi de dérive)</a:t>
            </a:r>
          </a:p>
          <a:p>
            <a:pPr>
              <a:spcAft>
                <a:spcPts val="900"/>
              </a:spcAft>
            </a:pPr>
            <a:r>
              <a:rPr sz="1200" b="1">
                <a:solidFill>
                  <a:srgbClr val="2A78D6"/>
                </a:solidFill>
                <a:latin typeface="Segoe UI"/>
              </a:rPr>
              <a:t>•  </a:t>
            </a:r>
            <a:r>
              <a:rPr sz="1200">
                <a:solidFill>
                  <a:srgbClr val="0B0B0B"/>
                </a:solidFill>
                <a:latin typeface="Segoe UI"/>
              </a:rPr>
              <a:t>Power BI Service : actualisation planifiée, row-level security</a:t>
            </a:r>
          </a:p>
          <a:p>
            <a:pPr>
              <a:spcAft>
                <a:spcPts val="900"/>
              </a:spcAft>
            </a:pPr>
            <a:r>
              <a:rPr sz="1200" b="1">
                <a:solidFill>
                  <a:srgbClr val="2A78D6"/>
                </a:solidFill>
                <a:latin typeface="Segoe UI"/>
              </a:rPr>
              <a:t>•  </a:t>
            </a:r>
            <a:r>
              <a:rPr sz="1200">
                <a:solidFill>
                  <a:srgbClr val="0B0B0B"/>
                </a:solidFill>
                <a:latin typeface="Segoe UI"/>
              </a:rPr>
              <a:t>Boucle analyste : confirmer / rejeter les alertes pour affiner les seuils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dirty="0" err="1">
                <a:solidFill>
                  <a:srgbClr val="898781"/>
                </a:solidFill>
                <a:latin typeface="Segoe UI"/>
              </a:rPr>
              <a:t>Soutenance</a:t>
            </a:r>
            <a:r>
              <a:rPr sz="900" b="0" dirty="0">
                <a:solidFill>
                  <a:srgbClr val="898781"/>
                </a:solidFill>
                <a:latin typeface="Segoe UI"/>
              </a:rPr>
              <a:t> PFE · Bahgat Insight Platform ·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36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1033272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1400"/>
              </a:spcAft>
            </a:pPr>
            <a:r>
              <a:rPr sz="4000" b="1">
                <a:solidFill>
                  <a:srgbClr val="FFFFFF"/>
                </a:solidFill>
                <a:latin typeface="Segoe UI"/>
              </a:rPr>
              <a:t>Merci de votre attention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CDE2FB"/>
                </a:solidFill>
                <a:latin typeface="Segoe UI"/>
              </a:rPr>
              <a:t>Place à vos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120640"/>
            <a:ext cx="103327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DE2FB"/>
                </a:solidFill>
                <a:latin typeface="Segoe UI"/>
              </a:rPr>
              <a:t>BEN SAID Nassim · INSA Hauts-de-France · Bahgat IT Expert, Dubaï · [email]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DE2FB"/>
                </a:solidFill>
                <a:latin typeface="Segoe UI"/>
              </a:rPr>
              <a:t>Soutenance PFE · Bahgat Insight Platform ·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titus xmlns="http://schemas.titus.com/TitusProperties/">
  <TitusGUID xmlns="">d83f1d8e-1b04-4709-912a-886d616fb90c</TitusGUID>
  <TitusMetadata xmlns="">eyJucyI6Imh0dHA6XC9cL3d3dy50aXR1cy5jb21cL25zXC9Xb3JsZCBUcmFkZSBPcmdhbml6YXRpb24iLCJwcm9wcyI6W3sibiI6IldUT0NMQVNTSUZJQ0FUSU9OIiwidmFscyI6W3sidmFsdWUiOiJJTlRFUk5BTCJ9XX1dfQ==</TitusMetadata>
</titus>
</file>

<file path=customXml/itemProps1.xml><?xml version="1.0" encoding="utf-8"?>
<ds:datastoreItem xmlns:ds="http://schemas.openxmlformats.org/officeDocument/2006/customXml" ds:itemID="{690EFE0F-55DA-4FBF-8E78-CAFEB122BEDF}">
  <ds:schemaRefs>
    <ds:schemaRef ds:uri="http://schemas.titus.com/TitusPropertie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198</TotalTime>
  <Words>2796</Words>
  <Application>Microsoft Office PowerPoint</Application>
  <PresentationFormat>Widescreen</PresentationFormat>
  <Paragraphs>268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Microsoft Sans Serif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Ben Said, Nassim</cp:lastModifiedBy>
  <cp:revision>2</cp:revision>
  <dcterms:created xsi:type="dcterms:W3CDTF">2013-01-27T09:14:16Z</dcterms:created>
  <dcterms:modified xsi:type="dcterms:W3CDTF">2026-07-28T13:36:55Z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d83f1d8e-1b04-4709-912a-886d616fb90c</vt:lpwstr>
  </property>
  <property fmtid="{D5CDD505-2E9C-101B-9397-08002B2CF9AE}" pid="3" name="WTOCLASSIFICATION">
    <vt:lpwstr>INTERNAL</vt:lpwstr>
  </property>
</Properties>
</file>